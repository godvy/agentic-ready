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9f854a9e-5e76-a3ad-e85a-5d145b5771f4}">
          <p14:sldIdLst>
            <p14:sldId id="256"/>
          </p14:sldIdLst>
        </p14:section>
        <p14:section name="Insight" id="{3bf9dc72-d7d0-622f-d74f-e160a06cff0a}">
          <p14:sldIdLst>
            <p14:sldId id="257"/>
          </p14:sldIdLst>
        </p14:section>
        <p14:section name="Solution" id="{608de06c-0993-b087-4593-7c93902ca208}">
          <p14:sldIdLst>
            <p14:sldId id="258"/>
          </p14:sldIdLst>
        </p14:section>
        <p14:section name="Technology" id="{4b7231a8-6f5b-a63b-a382-7fb4042842b5}">
          <p14:sldIdLst>
            <p14:sldId id="259"/>
          </p14:sldIdLst>
        </p14:section>
        <p14:section name="Go to market" id="{94e83c75-ad0b-9167-9ae9-e580871a1faf}">
          <p14:sldIdLst>
            <p14:sldId id="260"/>
          </p14:sldIdLst>
        </p14:section>
        <p14:section name="Next steps" id="{2fb81633-3cc3-7e14-e819-430f633d9d19}">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Agentic Ready is UserTesting for the agentic web. Developers no longer read docs top to bottom: they paste a link into Cursor, Copilot or Claude. But docs are designed for eyes: the token setting is in a tooltip, the login command is in a screenshot. The agent never sees those, fills the gap by guessing, the setup fails, and the developer decides the product is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years ago companies learned to make pages readable for search crawlers. Now the reader is an agent, and it needs AIO: AI Optimization. Agents don't read like humans, and they don't all read alike. On our sample guide, an agent fetching raw HTML scored 75; a reader-mode agent, which is how most assistants read pages, scored 53. Writing the same facts as plain text took it to 100. Nobody measures this today. I see this gap every day working with customers who are implementing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here. Paste any technical docs URL and a task. Three agents read the page the way real assistants fetch it and attempt the task. A judge scores each attempt: our typical sample guide scores 53, the agent-ready version 100. Every failure says what broke, why, where the real answer was hiding, and the sentence to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fetch profiles mirror how real agents read pages: raw HTML, reader-mode text that most assistants use, and llms.txt when a site publishes it. Each feeds an isolated agent on gpt-4.1-mini that must work only from what it received. The judge on gpt-4.1 gets the ground truth: the full page with tooltips, hidden tabs and scripts. That's how it can say what each agent couldn't see. Nothing is used for training, nothing is executed, and the report is advisory: teams decide what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don't send cold emails, we send audits. We run a target company's docs through Agentic Ready and reach out with their score and where the agent got stuck. Self-serve, a free AIO Readiness Grader is the wedge. Teams upgrade for the full diagnostic report, then to enterprise for continuous monitoring in CI/CD. The buyer is DevRel, docs or developer experience; the ROI is lower support costs and fewer integration drop-offs.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make the simulation more realistic and close the loop. A browser-rendered agent and a retrieval agent cover how browser agents and IDE doc indexing actually read docs, and a multi-model panel compares assistants and cuts score variance. Then we close the loop: run the agent's steps in a sandbox to prove they work, turn every finding into a ready-to-merge docs fix, and run Agentic Ready in CI and across the whole site so the score never silently drops.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5852160" cy="7772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46520"/>
            <a:ext cx="2743200" cy="274320"/>
          </a:xfrm>
          <a:prstGeom prst="rect">
            <a:avLst/>
          </a:prstGeom>
          <a:noFill/>
          <a:ln/>
        </p:spPr>
        <p:txBody>
          <a:bodyPr wrap="square" lIns="0" tIns="0" rIns="0" bIns="0" rtlCol="0" anchor="ctr"/>
          <a:lstStyle/>
          <a:p>
            <a:pPr indent="0" marL="0">
              <a:buNone/>
            </a:pPr>
            <a:r>
              <a:rPr lang="en-US" sz="1000" dirty="0">
                <a:solidFill>
                  <a:schemeClr val="accent5"/>
                </a:solidFill>
              </a:rPr>
              <a:t>Agentic Ready</a:t>
            </a:r>
            <a:endParaRPr lang="en-US" sz="10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5852160" cy="777240"/>
          </a:xfrm>
          <a:prstGeom prst="rect">
            <a:avLst/>
          </a:prstGeom>
          <a:noFill/>
          <a:ln/>
        </p:spPr>
        <p:txBody>
          <a:bodyPr wrap="square" lIns="0" tIns="0" rIns="0" bIns="0" rtlCol="0" anchor="t"/>
          <a:lstStyle/>
          <a:p>
            <a:pPr algn="l" indent="0" marL="0">
              <a:buNone/>
            </a:pPr>
            <a:r>
              <a:rPr lang="en-US" sz="4000" b="1" dirty="0">
                <a:solidFill>
                  <a:schemeClr val="bg1"/>
                </a:solidFill>
              </a:rPr>
              <a:t>Agentic Ready</a:t>
            </a:r>
            <a:endParaRPr lang="en-US" sz="4000" dirty="0"/>
          </a:p>
        </p:txBody>
      </p:sp>
      <p:sp>
        <p:nvSpPr>
          <p:cNvPr id="3" name="Subtitle"/>
          <p:cNvSpPr txBox="1"/>
          <p:nvPr/>
        </p:nvSpPr>
        <p:spPr>
          <a:xfrm>
            <a:off x="548640" y="1280160"/>
            <a:ext cx="5852160" cy="411480"/>
          </a:xfrm>
          <a:prstGeom prst="rect">
            <a:avLst/>
          </a:prstGeom>
          <a:noFill/>
          <a:ln/>
        </p:spPr>
        <p:txBody>
          <a:bodyPr wrap="square" lIns="0" tIns="0" rIns="0" bIns="0" rtlCol="0" anchor="t"/>
          <a:lstStyle/>
          <a:p>
            <a:pPr indent="0" marL="0">
              <a:buNone/>
            </a:pPr>
            <a:r>
              <a:rPr lang="en-US" sz="2200" dirty="0">
                <a:solidFill>
                  <a:schemeClr val="accent4"/>
                </a:solidFill>
              </a:rPr>
              <a:t>UserTesting for the agentic web</a:t>
            </a:r>
            <a:endParaRPr lang="en-US" sz="2200" dirty="0"/>
          </a:p>
        </p:txBody>
      </p:sp>
      <p:sp>
        <p:nvSpPr>
          <p:cNvPr id="4" name="Hook"/>
          <p:cNvSpPr txBox="1"/>
          <p:nvPr/>
        </p:nvSpPr>
        <p:spPr>
          <a:xfrm>
            <a:off x="548640" y="2103120"/>
            <a:ext cx="5486400" cy="1463040"/>
          </a:xfrm>
          <a:prstGeom prst="rect">
            <a:avLst/>
          </a:prstGeom>
          <a:noFill/>
          <a:ln/>
        </p:spPr>
        <p:txBody>
          <a:bodyPr wrap="square" lIns="0" tIns="0" rIns="0" bIns="0" rtlCol="0" anchor="t"/>
          <a:lstStyle/>
          <a:p>
            <a:pPr indent="0" marL="0">
              <a:buNone/>
            </a:pPr>
            <a:r>
              <a:rPr lang="en-US" sz="2600" dirty="0">
                <a:solidFill>
                  <a:schemeClr val="bg1"/>
                </a:solidFill>
                <a:latin typeface="Cambria" pitchFamily="34" charset="0"/>
                <a:ea typeface="Cambria" pitchFamily="34" charset="-122"/>
                <a:cs typeface="Cambria" pitchFamily="34" charset="-120"/>
              </a:rPr>
              <a:t>We make sure AI agents can understand and act on your product documentation</a:t>
            </a:r>
            <a:endParaRPr lang="en-US" sz="2600" dirty="0"/>
          </a:p>
        </p:txBody>
      </p:sp>
      <p:sp>
        <p:nvSpPr>
          <p:cNvPr id="5" name="Problem label"/>
          <p:cNvSpPr txBox="1"/>
          <p:nvPr/>
        </p:nvSpPr>
        <p:spPr>
          <a:xfrm>
            <a:off x="6675120" y="566928"/>
            <a:ext cx="4937760" cy="274320"/>
          </a:xfrm>
          <a:prstGeom prst="rect">
            <a:avLst/>
          </a:prstGeom>
          <a:noFill/>
          <a:ln/>
        </p:spPr>
        <p:txBody>
          <a:bodyPr wrap="square" lIns="0" tIns="0" rIns="0" bIns="0" rtlCol="0" anchor="ctr"/>
          <a:lstStyle/>
          <a:p>
            <a:pPr indent="0" marL="0">
              <a:buNone/>
            </a:pPr>
            <a:r>
              <a:rPr lang="en-US" sz="1100" b="1" spc="200" kern="0" dirty="0">
                <a:solidFill>
                  <a:schemeClr val="accent4"/>
                </a:solidFill>
              </a:rPr>
              <a:t>THE AI INTEGRATION GAP</a:t>
            </a:r>
            <a:endParaRPr lang="en-US" sz="1100" dirty="0"/>
          </a:p>
        </p:txBody>
      </p:sp>
      <p:sp>
        <p:nvSpPr>
          <p:cNvPr id="6" name="Problem 1 card"/>
          <p:cNvSpPr/>
          <p:nvPr/>
        </p:nvSpPr>
        <p:spPr>
          <a:xfrm>
            <a:off x="6675120" y="960120"/>
            <a:ext cx="4967935" cy="1554480"/>
          </a:xfrm>
          <a:prstGeom prst="roundRect">
            <a:avLst>
              <a:gd name="adj" fmla="val 7059"/>
            </a:avLst>
          </a:prstGeom>
          <a:solidFill>
            <a:schemeClr val="accent1"/>
          </a:solidFill>
          <a:ln/>
        </p:spPr>
      </p:sp>
      <p:sp>
        <p:nvSpPr>
          <p:cNvPr id="7" name="Problem icon 1 bg"/>
          <p:cNvSpPr/>
          <p:nvPr/>
        </p:nvSpPr>
        <p:spPr>
          <a:xfrm>
            <a:off x="6949440" y="1234440"/>
            <a:ext cx="502920" cy="502920"/>
          </a:xfrm>
          <a:prstGeom prst="ellipse">
            <a:avLst/>
          </a:prstGeom>
          <a:solidFill>
            <a:schemeClr val="tx2"/>
          </a:solidFill>
          <a:ln/>
        </p:spPr>
      </p:sp>
      <p:pic>
        <p:nvPicPr>
          <p:cNvPr id="8" name="Problem icon 1" descr="preencoded.png">    </p:cNvPr>
          <p:cNvPicPr>
            <a:picLocks noChangeAspect="1"/>
          </p:cNvPicPr>
          <p:nvPr/>
        </p:nvPicPr>
        <p:blipFill>
          <a:blip r:embed="rId1"/>
          <a:stretch>
            <a:fillRect/>
          </a:stretch>
        </p:blipFill>
        <p:spPr>
          <a:xfrm>
            <a:off x="7075170" y="1360170"/>
            <a:ext cx="251460" cy="251460"/>
          </a:xfrm>
          <a:prstGeom prst="rect">
            <a:avLst/>
          </a:prstGeom>
        </p:spPr>
      </p:pic>
      <p:sp>
        <p:nvSpPr>
          <p:cNvPr id="9" name="Problem 1"/>
          <p:cNvSpPr txBox="1"/>
          <p:nvPr/>
        </p:nvSpPr>
        <p:spPr>
          <a:xfrm>
            <a:off x="7680960" y="1161288"/>
            <a:ext cx="3687775" cy="1188720"/>
          </a:xfrm>
          <a:prstGeom prst="rect">
            <a:avLst/>
          </a:prstGeom>
          <a:noFill/>
          <a:ln/>
        </p:spPr>
        <p:txBody>
          <a:bodyPr wrap="square" lIns="0" tIns="0" rIns="0" bIns="0" rtlCol="0" anchor="t"/>
          <a:lstStyle/>
          <a:p>
            <a:pPr indent="0" marL="0">
              <a:buNone/>
            </a:pPr>
            <a:r>
              <a:rPr lang="en-US" sz="1700" b="1" dirty="0">
                <a:solidFill>
                  <a:schemeClr val="bg1"/>
                </a:solidFill>
              </a:rPr>
              <a:t>The shift</a:t>
            </a:r>
            <a:endParaRPr lang="en-US" sz="1700" dirty="0"/>
          </a:p>
          <a:p>
            <a:pPr indent="0" marL="0">
              <a:buNone/>
            </a:pPr>
            <a:r>
              <a:rPr lang="en-US" sz="1500" dirty="0">
                <a:solidFill>
                  <a:schemeClr val="bg1"/>
                </a:solidFill>
              </a:rPr>
              <a:t>Developers paste docs links into Cursor, Copilot and Claude instead of reading them</a:t>
            </a:r>
            <a:endParaRPr lang="en-US" sz="1700" dirty="0"/>
          </a:p>
        </p:txBody>
      </p:sp>
      <p:sp>
        <p:nvSpPr>
          <p:cNvPr id="10" name="Problem 2 card"/>
          <p:cNvSpPr/>
          <p:nvPr/>
        </p:nvSpPr>
        <p:spPr>
          <a:xfrm>
            <a:off x="6675120" y="2743200"/>
            <a:ext cx="4967935" cy="1554480"/>
          </a:xfrm>
          <a:prstGeom prst="roundRect">
            <a:avLst>
              <a:gd name="adj" fmla="val 7059"/>
            </a:avLst>
          </a:prstGeom>
          <a:solidFill>
            <a:schemeClr val="accent1"/>
          </a:solidFill>
          <a:ln/>
        </p:spPr>
      </p:sp>
      <p:sp>
        <p:nvSpPr>
          <p:cNvPr id="11" name="Problem icon 2 bg"/>
          <p:cNvSpPr/>
          <p:nvPr/>
        </p:nvSpPr>
        <p:spPr>
          <a:xfrm>
            <a:off x="6949440" y="3017520"/>
            <a:ext cx="502920" cy="502920"/>
          </a:xfrm>
          <a:prstGeom prst="ellipse">
            <a:avLst/>
          </a:prstGeom>
          <a:solidFill>
            <a:schemeClr val="tx2"/>
          </a:solidFill>
          <a:ln/>
        </p:spPr>
      </p:sp>
      <p:pic>
        <p:nvPicPr>
          <p:cNvPr id="12" name="Problem icon 2" descr="preencoded.png">    </p:cNvPr>
          <p:cNvPicPr>
            <a:picLocks noChangeAspect="1"/>
          </p:cNvPicPr>
          <p:nvPr/>
        </p:nvPicPr>
        <p:blipFill>
          <a:blip r:embed="rId2"/>
          <a:stretch>
            <a:fillRect/>
          </a:stretch>
        </p:blipFill>
        <p:spPr>
          <a:xfrm>
            <a:off x="7075170" y="3143250"/>
            <a:ext cx="251460" cy="251460"/>
          </a:xfrm>
          <a:prstGeom prst="rect">
            <a:avLst/>
          </a:prstGeom>
        </p:spPr>
      </p:pic>
      <p:sp>
        <p:nvSpPr>
          <p:cNvPr id="13" name="Problem 2"/>
          <p:cNvSpPr txBox="1"/>
          <p:nvPr/>
        </p:nvSpPr>
        <p:spPr>
          <a:xfrm>
            <a:off x="7680960" y="2944368"/>
            <a:ext cx="3687775" cy="1188720"/>
          </a:xfrm>
          <a:prstGeom prst="rect">
            <a:avLst/>
          </a:prstGeom>
          <a:noFill/>
          <a:ln/>
        </p:spPr>
        <p:txBody>
          <a:bodyPr wrap="square" lIns="0" tIns="0" rIns="0" bIns="0" rtlCol="0" anchor="t"/>
          <a:lstStyle/>
          <a:p>
            <a:pPr indent="0" marL="0">
              <a:buNone/>
            </a:pPr>
            <a:r>
              <a:rPr lang="en-US" sz="1700" b="1" dirty="0">
                <a:solidFill>
                  <a:schemeClr val="bg1"/>
                </a:solidFill>
              </a:rPr>
              <a:t>The failure</a:t>
            </a:r>
            <a:endParaRPr lang="en-US" sz="1700" dirty="0"/>
          </a:p>
          <a:p>
            <a:pPr indent="0" marL="0">
              <a:buNone/>
            </a:pPr>
            <a:r>
              <a:rPr lang="en-US" sz="1500" dirty="0">
                <a:solidFill>
                  <a:schemeClr val="bg1"/>
                </a:solidFill>
              </a:rPr>
              <a:t>Docs are built for human eyes: key steps sit in tooltips, screenshots and scattered text</a:t>
            </a:r>
            <a:endParaRPr lang="en-US" sz="1700" dirty="0"/>
          </a:p>
        </p:txBody>
      </p:sp>
      <p:sp>
        <p:nvSpPr>
          <p:cNvPr id="14" name="Problem 3 card"/>
          <p:cNvSpPr/>
          <p:nvPr/>
        </p:nvSpPr>
        <p:spPr>
          <a:xfrm>
            <a:off x="6675120" y="4526280"/>
            <a:ext cx="4967935" cy="1554480"/>
          </a:xfrm>
          <a:prstGeom prst="roundRect">
            <a:avLst>
              <a:gd name="adj" fmla="val 7059"/>
            </a:avLst>
          </a:prstGeom>
          <a:solidFill>
            <a:schemeClr val="accent1"/>
          </a:solidFill>
          <a:ln/>
        </p:spPr>
      </p:sp>
      <p:sp>
        <p:nvSpPr>
          <p:cNvPr id="15" name="Problem icon 3 bg"/>
          <p:cNvSpPr/>
          <p:nvPr/>
        </p:nvSpPr>
        <p:spPr>
          <a:xfrm>
            <a:off x="6949440" y="4800600"/>
            <a:ext cx="502920" cy="502920"/>
          </a:xfrm>
          <a:prstGeom prst="ellipse">
            <a:avLst/>
          </a:prstGeom>
          <a:solidFill>
            <a:schemeClr val="accent2"/>
          </a:solidFill>
          <a:ln/>
        </p:spPr>
      </p:sp>
      <p:pic>
        <p:nvPicPr>
          <p:cNvPr id="16" name="Problem icon 3" descr="preencoded.png">    </p:cNvPr>
          <p:cNvPicPr>
            <a:picLocks noChangeAspect="1"/>
          </p:cNvPicPr>
          <p:nvPr/>
        </p:nvPicPr>
        <p:blipFill>
          <a:blip r:embed="rId3"/>
          <a:stretch>
            <a:fillRect/>
          </a:stretch>
        </p:blipFill>
        <p:spPr>
          <a:xfrm>
            <a:off x="7075170" y="4926330"/>
            <a:ext cx="251460" cy="251460"/>
          </a:xfrm>
          <a:prstGeom prst="rect">
            <a:avLst/>
          </a:prstGeom>
        </p:spPr>
      </p:pic>
      <p:sp>
        <p:nvSpPr>
          <p:cNvPr id="17" name="Problem 3"/>
          <p:cNvSpPr txBox="1"/>
          <p:nvPr/>
        </p:nvSpPr>
        <p:spPr>
          <a:xfrm>
            <a:off x="7680960" y="4727448"/>
            <a:ext cx="3687775" cy="1188720"/>
          </a:xfrm>
          <a:prstGeom prst="rect">
            <a:avLst/>
          </a:prstGeom>
          <a:noFill/>
          <a:ln/>
        </p:spPr>
        <p:txBody>
          <a:bodyPr wrap="square" lIns="0" tIns="0" rIns="0" bIns="0" rtlCol="0" anchor="t"/>
          <a:lstStyle/>
          <a:p>
            <a:pPr indent="0" marL="0">
              <a:buNone/>
            </a:pPr>
            <a:r>
              <a:rPr lang="en-US" sz="1700" b="1" dirty="0">
                <a:solidFill>
                  <a:schemeClr val="bg1"/>
                </a:solidFill>
              </a:rPr>
              <a:t>The cost</a:t>
            </a:r>
            <a:endParaRPr lang="en-US" sz="1700" dirty="0"/>
          </a:p>
          <a:p>
            <a:pPr indent="0" marL="0">
              <a:buNone/>
            </a:pPr>
            <a:r>
              <a:rPr lang="en-US" sz="1500" dirty="0">
                <a:solidFill>
                  <a:schemeClr val="bg1"/>
                </a:solidFill>
              </a:rPr>
              <a:t>Agents miss that context and hallucinate broken steps. The developer assumes the product is broken and leaves</a:t>
            </a:r>
            <a:endParaRPr lang="en-US" sz="1700" dirty="0"/>
          </a:p>
        </p:txBody>
      </p:sp>
      <p:sp>
        <p:nvSpPr>
          <p:cNvPr id="18" name="Impact"/>
          <p:cNvSpPr txBox="1"/>
          <p:nvPr/>
        </p:nvSpPr>
        <p:spPr>
          <a:xfrm>
            <a:off x="548640" y="5486400"/>
            <a:ext cx="5669280" cy="685800"/>
          </a:xfrm>
          <a:prstGeom prst="rect">
            <a:avLst/>
          </a:prstGeom>
          <a:noFill/>
          <a:ln/>
        </p:spPr>
        <p:txBody>
          <a:bodyPr wrap="square" lIns="0" tIns="0" rIns="0" bIns="0" rtlCol="0" anchor="t"/>
          <a:lstStyle/>
          <a:p>
            <a:pPr indent="0" marL="0">
              <a:buNone/>
            </a:pPr>
            <a:r>
              <a:rPr lang="en-US" sz="1500" b="1" dirty="0">
                <a:solidFill>
                  <a:schemeClr val="accent4"/>
                </a:solidFill>
              </a:rPr>
              <a:t>Impact  </a:t>
            </a:r>
            <a:pPr indent="0" marL="0">
              <a:buNone/>
            </a:pPr>
            <a:r>
              <a:rPr lang="en-US" sz="1500" dirty="0">
                <a:solidFill>
                  <a:schemeClr val="bg1"/>
                </a:solidFill>
              </a:rPr>
              <a:t>Less integration friction, fewer developer drop-offs, faster customer onboarding</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The era of AI Optimization (AIO)</a:t>
            </a:r>
            <a:endParaRPr lang="en-US" sz="3200" dirty="0"/>
          </a:p>
        </p:txBody>
      </p:sp>
      <p:sp>
        <p:nvSpPr>
          <p:cNvPr id="3" name="SEO box"/>
          <p:cNvSpPr/>
          <p:nvPr/>
        </p:nvSpPr>
        <p:spPr>
          <a:xfrm>
            <a:off x="548640" y="1463040"/>
            <a:ext cx="2514600" cy="960120"/>
          </a:xfrm>
          <a:prstGeom prst="roundRect">
            <a:avLst>
              <a:gd name="adj" fmla="val 9524"/>
            </a:avLst>
          </a:prstGeom>
          <a:solidFill>
            <a:schemeClr val="bg2"/>
          </a:solidFill>
          <a:ln/>
        </p:spPr>
      </p:sp>
      <p:sp>
        <p:nvSpPr>
          <p:cNvPr id="4" name="SEO text"/>
          <p:cNvSpPr txBox="1"/>
          <p:nvPr/>
        </p:nvSpPr>
        <p:spPr>
          <a:xfrm>
            <a:off x="777240" y="1463040"/>
            <a:ext cx="2103120" cy="960120"/>
          </a:xfrm>
          <a:prstGeom prst="rect">
            <a:avLst/>
          </a:prstGeom>
          <a:noFill/>
          <a:ln/>
        </p:spPr>
        <p:txBody>
          <a:bodyPr wrap="square" lIns="0" tIns="0" rIns="0" bIns="0" rtlCol="0" anchor="ctr"/>
          <a:lstStyle/>
          <a:p>
            <a:pPr indent="0" marL="0">
              <a:buNone/>
            </a:pPr>
            <a:r>
              <a:rPr lang="en-US" sz="1800" b="1" dirty="0">
                <a:solidFill>
                  <a:schemeClr val="tx2"/>
                </a:solidFill>
              </a:rPr>
              <a:t>SEO</a:t>
            </a:r>
            <a:endParaRPr lang="en-US" sz="1800" dirty="0"/>
          </a:p>
          <a:p>
            <a:pPr indent="0" marL="0">
              <a:buNone/>
            </a:pPr>
            <a:r>
              <a:rPr lang="en-US" sz="1300" dirty="0">
                <a:solidFill>
                  <a:schemeClr val="tx2"/>
                </a:solidFill>
              </a:rPr>
              <a:t>pages crawlers can read</a:t>
            </a:r>
            <a:endParaRPr lang="en-US" sz="1800" dirty="0"/>
          </a:p>
        </p:txBody>
      </p:sp>
      <p:sp>
        <p:nvSpPr>
          <p:cNvPr id="5" name="SEO to AIO arrow"/>
          <p:cNvSpPr/>
          <p:nvPr/>
        </p:nvSpPr>
        <p:spPr>
          <a:xfrm>
            <a:off x="3154680" y="1943100"/>
            <a:ext cx="411480" cy="0"/>
          </a:xfrm>
          <a:prstGeom prst="line">
            <a:avLst/>
          </a:prstGeom>
          <a:noFill/>
          <a:ln w="22225">
            <a:solidFill>
              <a:srgbClr val="6B7280"/>
            </a:solidFill>
            <a:prstDash val="solid"/>
            <a:tailEnd type="triangle"/>
          </a:ln>
        </p:spPr>
      </p:sp>
      <p:sp>
        <p:nvSpPr>
          <p:cNvPr id="6" name="AIO box"/>
          <p:cNvSpPr/>
          <p:nvPr/>
        </p:nvSpPr>
        <p:spPr>
          <a:xfrm>
            <a:off x="3657600" y="1463040"/>
            <a:ext cx="2514600" cy="960120"/>
          </a:xfrm>
          <a:prstGeom prst="roundRect">
            <a:avLst>
              <a:gd name="adj" fmla="val 9524"/>
            </a:avLst>
          </a:prstGeom>
          <a:solidFill>
            <a:schemeClr val="accent1"/>
          </a:solidFill>
          <a:ln/>
        </p:spPr>
      </p:sp>
      <p:sp>
        <p:nvSpPr>
          <p:cNvPr id="7" name="AIO text"/>
          <p:cNvSpPr txBox="1"/>
          <p:nvPr/>
        </p:nvSpPr>
        <p:spPr>
          <a:xfrm>
            <a:off x="3886200" y="1463040"/>
            <a:ext cx="2103120" cy="960120"/>
          </a:xfrm>
          <a:prstGeom prst="rect">
            <a:avLst/>
          </a:prstGeom>
          <a:noFill/>
          <a:ln/>
        </p:spPr>
        <p:txBody>
          <a:bodyPr wrap="square" lIns="0" tIns="0" rIns="0" bIns="0" rtlCol="0" anchor="ctr"/>
          <a:lstStyle/>
          <a:p>
            <a:pPr indent="0" marL="0">
              <a:buNone/>
            </a:pPr>
            <a:r>
              <a:rPr lang="en-US" sz="1800" b="1" dirty="0">
                <a:solidFill>
                  <a:schemeClr val="bg1"/>
                </a:solidFill>
              </a:rPr>
              <a:t>AIO</a:t>
            </a:r>
            <a:endParaRPr lang="en-US" sz="1800" dirty="0"/>
          </a:p>
          <a:p>
            <a:pPr indent="0" marL="0">
              <a:buNone/>
            </a:pPr>
            <a:r>
              <a:rPr lang="en-US" sz="1300" dirty="0">
                <a:solidFill>
                  <a:schemeClr val="bg1"/>
                </a:solidFill>
              </a:rPr>
              <a:t>docs agents can act on</a:t>
            </a:r>
            <a:endParaRPr lang="en-US" sz="1800" dirty="0"/>
          </a:p>
        </p:txBody>
      </p:sp>
      <p:sp>
        <p:nvSpPr>
          <p:cNvPr id="8" name="THE RISK label"/>
          <p:cNvSpPr txBox="1"/>
          <p:nvPr/>
        </p:nvSpPr>
        <p:spPr>
          <a:xfrm>
            <a:off x="548640" y="2743200"/>
            <a:ext cx="27432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THE RISK</a:t>
            </a:r>
            <a:endParaRPr lang="en-US" sz="1100" dirty="0"/>
          </a:p>
        </p:txBody>
      </p:sp>
      <p:sp>
        <p:nvSpPr>
          <p:cNvPr id="9" name="THE RISK text"/>
          <p:cNvSpPr txBox="1"/>
          <p:nvPr/>
        </p:nvSpPr>
        <p:spPr>
          <a:xfrm>
            <a:off x="548640" y="3035808"/>
            <a:ext cx="5623560" cy="685800"/>
          </a:xfrm>
          <a:prstGeom prst="rect">
            <a:avLst/>
          </a:prstGeom>
          <a:noFill/>
          <a:ln/>
        </p:spPr>
        <p:txBody>
          <a:bodyPr wrap="square" lIns="0" tIns="0" rIns="0" bIns="0" rtlCol="0" anchor="t"/>
          <a:lstStyle/>
          <a:p>
            <a:pPr indent="0" marL="0">
              <a:buNone/>
            </a:pPr>
            <a:r>
              <a:rPr lang="en-US" sz="1400" dirty="0">
                <a:solidFill>
                  <a:schemeClr val="tx1"/>
                </a:solidFill>
              </a:rPr>
              <a:t>If an AI assistant can't parse your docs, your product fails at the very first step of implementation</a:t>
            </a:r>
            <a:endParaRPr lang="en-US" sz="1400" dirty="0"/>
          </a:p>
        </p:txBody>
      </p:sp>
      <p:sp>
        <p:nvSpPr>
          <p:cNvPr id="10" name="THE NEED label"/>
          <p:cNvSpPr txBox="1"/>
          <p:nvPr/>
        </p:nvSpPr>
        <p:spPr>
          <a:xfrm>
            <a:off x="548640" y="3794760"/>
            <a:ext cx="27432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THE NEED</a:t>
            </a:r>
            <a:endParaRPr lang="en-US" sz="1100" dirty="0"/>
          </a:p>
        </p:txBody>
      </p:sp>
      <p:sp>
        <p:nvSpPr>
          <p:cNvPr id="11" name="THE NEED text"/>
          <p:cNvSpPr txBox="1"/>
          <p:nvPr/>
        </p:nvSpPr>
        <p:spPr>
          <a:xfrm>
            <a:off x="548640" y="4087368"/>
            <a:ext cx="5623560" cy="685800"/>
          </a:xfrm>
          <a:prstGeom prst="rect">
            <a:avLst/>
          </a:prstGeom>
          <a:noFill/>
          <a:ln/>
        </p:spPr>
        <p:txBody>
          <a:bodyPr wrap="square" lIns="0" tIns="0" rIns="0" bIns="0" rtlCol="0" anchor="t"/>
          <a:lstStyle/>
          <a:p>
            <a:pPr indent="0" marL="0">
              <a:buNone/>
            </a:pPr>
            <a:r>
              <a:rPr lang="en-US" sz="1400" dirty="0">
                <a:solidFill>
                  <a:schemeClr val="tx1"/>
                </a:solidFill>
              </a:rPr>
              <a:t>DevEx, product and docs teams need a measurable, automated way to see how well agents use their docs, before a developer tries</a:t>
            </a:r>
            <a:endParaRPr lang="en-US" sz="1400" dirty="0"/>
          </a:p>
        </p:txBody>
      </p:sp>
      <p:sp>
        <p:nvSpPr>
          <p:cNvPr id="12" name="WHY ME label"/>
          <p:cNvSpPr txBox="1"/>
          <p:nvPr/>
        </p:nvSpPr>
        <p:spPr>
          <a:xfrm>
            <a:off x="548640" y="4846320"/>
            <a:ext cx="27432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WHY ME</a:t>
            </a:r>
            <a:endParaRPr lang="en-US" sz="1100" dirty="0"/>
          </a:p>
        </p:txBody>
      </p:sp>
      <p:sp>
        <p:nvSpPr>
          <p:cNvPr id="13" name="WHY ME text"/>
          <p:cNvSpPr txBox="1"/>
          <p:nvPr/>
        </p:nvSpPr>
        <p:spPr>
          <a:xfrm>
            <a:off x="548640" y="5138928"/>
            <a:ext cx="5623560" cy="685800"/>
          </a:xfrm>
          <a:prstGeom prst="rect">
            <a:avLst/>
          </a:prstGeom>
          <a:noFill/>
          <a:ln/>
        </p:spPr>
        <p:txBody>
          <a:bodyPr wrap="square" lIns="0" tIns="0" rIns="0" bIns="0" rtlCol="0" anchor="t"/>
          <a:lstStyle/>
          <a:p>
            <a:pPr indent="0" marL="0">
              <a:buNone/>
            </a:pPr>
            <a:r>
              <a:rPr lang="en-US" sz="1400" dirty="0">
                <a:solidFill>
                  <a:schemeClr val="tx1"/>
                </a:solidFill>
              </a:rPr>
              <a:t>I work directly with customers implementing products. I see every day where instructions break, and more often now the reader is an AI assistant</a:t>
            </a:r>
            <a:endParaRPr lang="en-US" sz="1400" dirty="0"/>
          </a:p>
        </p:txBody>
      </p:sp>
      <p:sp>
        <p:nvSpPr>
          <p:cNvPr id="14" name="Stat card 1"/>
          <p:cNvSpPr/>
          <p:nvPr/>
        </p:nvSpPr>
        <p:spPr>
          <a:xfrm>
            <a:off x="6720840" y="1463040"/>
            <a:ext cx="4922215" cy="2057400"/>
          </a:xfrm>
          <a:prstGeom prst="roundRect">
            <a:avLst>
              <a:gd name="adj" fmla="val 5333"/>
            </a:avLst>
          </a:prstGeom>
          <a:solidFill>
            <a:schemeClr val="bg2"/>
          </a:solidFill>
          <a:ln/>
        </p:spPr>
      </p:sp>
      <p:sp>
        <p:nvSpPr>
          <p:cNvPr id="15" name="Stat 1"/>
          <p:cNvSpPr txBox="1"/>
          <p:nvPr/>
        </p:nvSpPr>
        <p:spPr>
          <a:xfrm>
            <a:off x="7040880" y="1737360"/>
            <a:ext cx="4206240" cy="86868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75 vs 53</a:t>
            </a:r>
            <a:endParaRPr lang="en-US" sz="5400" dirty="0"/>
          </a:p>
        </p:txBody>
      </p:sp>
      <p:sp>
        <p:nvSpPr>
          <p:cNvPr id="16" name="Stat label 1"/>
          <p:cNvSpPr txBox="1"/>
          <p:nvPr/>
        </p:nvSpPr>
        <p:spPr>
          <a:xfrm>
            <a:off x="7040880" y="2697480"/>
            <a:ext cx="4206240" cy="685800"/>
          </a:xfrm>
          <a:prstGeom prst="rect">
            <a:avLst/>
          </a:prstGeom>
          <a:noFill/>
          <a:ln/>
        </p:spPr>
        <p:txBody>
          <a:bodyPr wrap="square" lIns="0" tIns="0" rIns="0" bIns="0" rtlCol="0" anchor="t"/>
          <a:lstStyle/>
          <a:p>
            <a:pPr indent="0" marL="0">
              <a:buNone/>
            </a:pPr>
            <a:r>
              <a:rPr lang="en-US" sz="1400" dirty="0">
                <a:solidFill>
                  <a:schemeClr val="tx1"/>
                </a:solidFill>
              </a:rPr>
              <a:t>Same page, same task, two agents: one fetching raw HTML, one using reader mode like most assistants</a:t>
            </a:r>
            <a:endParaRPr lang="en-US" sz="1400" dirty="0"/>
          </a:p>
        </p:txBody>
      </p:sp>
      <p:sp>
        <p:nvSpPr>
          <p:cNvPr id="17" name="Stat card 2"/>
          <p:cNvSpPr/>
          <p:nvPr/>
        </p:nvSpPr>
        <p:spPr>
          <a:xfrm>
            <a:off x="6720840" y="3794760"/>
            <a:ext cx="4922215" cy="2057400"/>
          </a:xfrm>
          <a:prstGeom prst="roundRect">
            <a:avLst>
              <a:gd name="adj" fmla="val 5333"/>
            </a:avLst>
          </a:prstGeom>
          <a:solidFill>
            <a:schemeClr val="bg2"/>
          </a:solidFill>
          <a:ln/>
        </p:spPr>
      </p:sp>
      <p:sp>
        <p:nvSpPr>
          <p:cNvPr id="18" name="Stat 2"/>
          <p:cNvSpPr txBox="1"/>
          <p:nvPr/>
        </p:nvSpPr>
        <p:spPr>
          <a:xfrm>
            <a:off x="7040880" y="4069080"/>
            <a:ext cx="4206240" cy="868680"/>
          </a:xfrm>
          <a:prstGeom prst="rect">
            <a:avLst/>
          </a:prstGeom>
          <a:noFill/>
          <a:ln/>
        </p:spPr>
        <p:txBody>
          <a:bodyPr wrap="square" lIns="0" tIns="0" rIns="0" bIns="0" rtlCol="0" anchor="t"/>
          <a:lstStyle/>
          <a:p>
            <a:pPr indent="0" marL="0">
              <a:buNone/>
            </a:pPr>
            <a:r>
              <a:rPr lang="en-US" sz="5400" b="1" dirty="0">
                <a:solidFill>
                  <a:schemeClr val="accent3"/>
                </a:solidFill>
                <a:latin typeface="Cambria" pitchFamily="34" charset="0"/>
                <a:ea typeface="Cambria" pitchFamily="34" charset="-122"/>
                <a:cs typeface="Cambria" pitchFamily="34" charset="-120"/>
              </a:rPr>
              <a:t>+47</a:t>
            </a:r>
            <a:endParaRPr lang="en-US" sz="5400" dirty="0"/>
          </a:p>
        </p:txBody>
      </p:sp>
      <p:sp>
        <p:nvSpPr>
          <p:cNvPr id="19" name="Stat label 2"/>
          <p:cNvSpPr txBox="1"/>
          <p:nvPr/>
        </p:nvSpPr>
        <p:spPr>
          <a:xfrm>
            <a:off x="7040880" y="5029200"/>
            <a:ext cx="4206240" cy="685800"/>
          </a:xfrm>
          <a:prstGeom prst="rect">
            <a:avLst/>
          </a:prstGeom>
          <a:noFill/>
          <a:ln/>
        </p:spPr>
        <p:txBody>
          <a:bodyPr wrap="square" lIns="0" tIns="0" rIns="0" bIns="0" rtlCol="0" anchor="t"/>
          <a:lstStyle/>
          <a:p>
            <a:pPr indent="0" marL="0">
              <a:buNone/>
            </a:pPr>
            <a:r>
              <a:rPr lang="en-US" sz="1400" dirty="0">
                <a:solidFill>
                  <a:schemeClr val="tx1"/>
                </a:solidFill>
              </a:rPr>
              <a:t>points when the same facts are written as plain text instead of tooltips and screenshots</a:t>
            </a:r>
            <a:endParaRPr lang="en-US" sz="14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Automated agent usability testing</a:t>
            </a:r>
            <a:endParaRPr lang="en-US" sz="3200" dirty="0"/>
          </a:p>
        </p:txBody>
      </p:sp>
      <p:sp>
        <p:nvSpPr>
          <p:cNvPr id="3" name="Simulation line"/>
          <p:cNvSpPr txBox="1"/>
          <p:nvPr/>
        </p:nvSpPr>
        <p:spPr>
          <a:xfrm>
            <a:off x="548640" y="1234440"/>
            <a:ext cx="11094415" cy="457200"/>
          </a:xfrm>
          <a:prstGeom prst="rect">
            <a:avLst/>
          </a:prstGeom>
          <a:noFill/>
          <a:ln/>
        </p:spPr>
        <p:txBody>
          <a:bodyPr wrap="square" lIns="0" tIns="0" rIns="0" bIns="0" rtlCol="0" anchor="t"/>
          <a:lstStyle/>
          <a:p>
            <a:pPr indent="0" marL="0">
              <a:buNone/>
            </a:pPr>
            <a:r>
              <a:rPr lang="en-US" sz="1500" dirty="0">
                <a:solidFill>
                  <a:schemeClr val="accent5"/>
                </a:solidFill>
              </a:rPr>
              <a:t>Three agents read your page the way real assistants fetch it (reader mode, llms.txt, raw HTML) and attempt a task using only what they received</a:t>
            </a:r>
            <a:endParaRPr lang="en-US" sz="1500" dirty="0"/>
          </a:p>
        </p:txBody>
      </p:sp>
      <p:sp>
        <p:nvSpPr>
          <p:cNvPr id="4" name="1  INPUT label"/>
          <p:cNvSpPr txBox="1"/>
          <p:nvPr/>
        </p:nvSpPr>
        <p:spPr>
          <a:xfrm>
            <a:off x="548640" y="1874520"/>
            <a:ext cx="3484778"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1  INPUT</a:t>
            </a:r>
            <a:endParaRPr lang="en-US" sz="1100" dirty="0"/>
          </a:p>
        </p:txBody>
      </p:sp>
      <p:pic>
        <p:nvPicPr>
          <p:cNvPr id="5" name="the Audit a page form" descr="the Audit a page form">    </p:cNvPr>
          <p:cNvPicPr>
            <a:picLocks noChangeAspect="1"/>
          </p:cNvPicPr>
          <p:nvPr/>
        </p:nvPicPr>
        <p:blipFill>
          <a:blip r:embed="rId1"/>
          <a:stretch>
            <a:fillRect/>
          </a:stretch>
        </p:blipFill>
        <p:spPr>
          <a:xfrm>
            <a:off x="548640" y="2485923"/>
            <a:ext cx="3484778" cy="2114755"/>
          </a:xfrm>
          <a:prstGeom prst="rect">
            <a:avLst/>
          </a:prstGeom>
          <a:effectLst>
            <a:outerShdw sx="100000" sy="100000" kx="0" ky="0" algn="bl" rotWithShape="0" blurRad="152400" dist="38100" dir="5400000">
              <a:srgbClr val="16263A">
                <a:alpha val="18000"/>
              </a:srgbClr>
            </a:outerShdw>
          </a:effectLst>
        </p:spPr>
      </p:pic>
      <p:sp>
        <p:nvSpPr>
          <p:cNvPr id="6" name="1  INPUT text"/>
          <p:cNvSpPr txBox="1"/>
          <p:nvPr/>
        </p:nvSpPr>
        <p:spPr>
          <a:xfrm>
            <a:off x="548640" y="5029200"/>
            <a:ext cx="3484778" cy="1097280"/>
          </a:xfrm>
          <a:prstGeom prst="rect">
            <a:avLst/>
          </a:prstGeom>
          <a:noFill/>
          <a:ln/>
        </p:spPr>
        <p:txBody>
          <a:bodyPr wrap="square" lIns="0" tIns="0" rIns="0" bIns="0" rtlCol="0" anchor="t"/>
          <a:lstStyle/>
          <a:p>
            <a:pPr indent="0" marL="0">
              <a:buNone/>
            </a:pPr>
            <a:r>
              <a:rPr lang="en-US" sz="1400" dirty="0">
                <a:solidFill>
                  <a:schemeClr val="tx1"/>
                </a:solidFill>
              </a:rPr>
              <a:t>Any technical docs URL (APIs, SDKs, CLIs, deployment guides) and a task: a how-to question, or a job for the agent to do itself</a:t>
            </a:r>
            <a:endParaRPr lang="en-US" sz="1400" dirty="0"/>
          </a:p>
        </p:txBody>
      </p:sp>
      <p:sp>
        <p:nvSpPr>
          <p:cNvPr id="7" name="2  AIO SCORE label"/>
          <p:cNvSpPr txBox="1"/>
          <p:nvPr/>
        </p:nvSpPr>
        <p:spPr>
          <a:xfrm>
            <a:off x="4353458" y="1874520"/>
            <a:ext cx="3484778"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2  AIO SCORE</a:t>
            </a:r>
            <a:endParaRPr lang="en-US" sz="1100" dirty="0"/>
          </a:p>
        </p:txBody>
      </p:sp>
      <p:pic>
        <p:nvPicPr>
          <p:cNvPr id="8" name="the two score cards" descr="the two score cards">    </p:cNvPr>
          <p:cNvPicPr>
            <a:picLocks noChangeAspect="1"/>
          </p:cNvPicPr>
          <p:nvPr/>
        </p:nvPicPr>
        <p:blipFill>
          <a:blip r:embed="rId2"/>
          <a:stretch>
            <a:fillRect/>
          </a:stretch>
        </p:blipFill>
        <p:spPr>
          <a:xfrm>
            <a:off x="4353458" y="2835454"/>
            <a:ext cx="3484778" cy="1415691"/>
          </a:xfrm>
          <a:prstGeom prst="rect">
            <a:avLst/>
          </a:prstGeom>
          <a:effectLst>
            <a:outerShdw sx="100000" sy="100000" kx="0" ky="0" algn="bl" rotWithShape="0" blurRad="152400" dist="38100" dir="5400000">
              <a:srgbClr val="16263A">
                <a:alpha val="18000"/>
              </a:srgbClr>
            </a:outerShdw>
          </a:effectLst>
        </p:spPr>
      </p:pic>
      <p:sp>
        <p:nvSpPr>
          <p:cNvPr id="9" name="2  AIO SCORE text"/>
          <p:cNvSpPr txBox="1"/>
          <p:nvPr/>
        </p:nvSpPr>
        <p:spPr>
          <a:xfrm>
            <a:off x="4353458" y="5029200"/>
            <a:ext cx="3484778" cy="1097280"/>
          </a:xfrm>
          <a:prstGeom prst="rect">
            <a:avLst/>
          </a:prstGeom>
          <a:noFill/>
          <a:ln/>
        </p:spPr>
        <p:txBody>
          <a:bodyPr wrap="square" lIns="0" tIns="0" rIns="0" bIns="0" rtlCol="0" anchor="t"/>
          <a:lstStyle/>
          <a:p>
            <a:pPr indent="0" marL="0">
              <a:buNone/>
            </a:pPr>
            <a:r>
              <a:rPr lang="en-US" sz="1400" dirty="0">
                <a:solidFill>
                  <a:schemeClr val="tx1"/>
                </a:solidFill>
              </a:rPr>
              <a:t>A 0 to 100 score per agent. Typical guide 53, the same facts written as plain text 100</a:t>
            </a:r>
            <a:endParaRPr lang="en-US" sz="1400" dirty="0"/>
          </a:p>
        </p:txBody>
      </p:sp>
      <p:sp>
        <p:nvSpPr>
          <p:cNvPr id="10" name="3  DIAGNOSIS label"/>
          <p:cNvSpPr txBox="1"/>
          <p:nvPr/>
        </p:nvSpPr>
        <p:spPr>
          <a:xfrm>
            <a:off x="8158277" y="1874520"/>
            <a:ext cx="3484778"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3  DIAGNOSIS</a:t>
            </a:r>
            <a:endParaRPr lang="en-US" sz="1100" dirty="0"/>
          </a:p>
        </p:txBody>
      </p:sp>
      <p:sp>
        <p:nvSpPr>
          <p:cNvPr id="11" name="Finding card"/>
          <p:cNvSpPr/>
          <p:nvPr/>
        </p:nvSpPr>
        <p:spPr>
          <a:xfrm>
            <a:off x="8158277" y="2240280"/>
            <a:ext cx="3484778" cy="2606040"/>
          </a:xfrm>
          <a:prstGeom prst="roundRect">
            <a:avLst>
              <a:gd name="adj" fmla="val 3509"/>
            </a:avLst>
          </a:prstGeom>
          <a:solidFill>
            <a:schemeClr val="bg2"/>
          </a:solidFill>
          <a:ln/>
        </p:spPr>
      </p:sp>
      <p:sp>
        <p:nvSpPr>
          <p:cNvPr id="12" name="Finding text"/>
          <p:cNvSpPr txBox="1"/>
          <p:nvPr/>
        </p:nvSpPr>
        <p:spPr>
          <a:xfrm>
            <a:off x="8432597" y="2423160"/>
            <a:ext cx="2936138" cy="2240280"/>
          </a:xfrm>
          <a:prstGeom prst="rect">
            <a:avLst/>
          </a:prstGeom>
          <a:noFill/>
          <a:ln/>
        </p:spPr>
        <p:txBody>
          <a:bodyPr wrap="square" lIns="0" tIns="0" rIns="0" bIns="0" rtlCol="0" anchor="t"/>
          <a:lstStyle/>
          <a:p>
            <a:pPr indent="0" marL="0">
              <a:spcAft>
                <a:spcPts val="400"/>
              </a:spcAft>
              <a:buNone/>
            </a:pPr>
            <a:r>
              <a:rPr lang="en-US" sz="1100" b="1" spc="200" kern="0" dirty="0">
                <a:solidFill>
                  <a:schemeClr val="accent2"/>
                </a:solidFill>
              </a:rPr>
              <a:t>MAJOR   </a:t>
            </a:r>
            <a:pPr indent="0" marL="0">
              <a:spcAft>
                <a:spcPts val="400"/>
              </a:spcAft>
              <a:buNone/>
            </a:pPr>
            <a:r>
              <a:rPr lang="en-US" sz="1400" b="1" dirty="0">
                <a:solidFill>
                  <a:schemeClr val="tx1"/>
                </a:solidFill>
              </a:rPr>
              <a:t>The agent invented ‘ducktape connect’ instead of the real login command</a:t>
            </a:r>
            <a:endParaRPr lang="en-US" sz="1100" dirty="0"/>
          </a:p>
          <a:p>
            <a:pPr indent="0" marL="0">
              <a:spcAft>
                <a:spcPts val="400"/>
              </a:spcAft>
              <a:buNone/>
            </a:pPr>
            <a:r>
              <a:rPr lang="en-US" sz="1200" dirty="0">
                <a:solidFill>
                  <a:schemeClr val="accent5"/>
                </a:solidFill>
              </a:rPr>
              <a:t>Visible to humans, hidden from this agent</a:t>
            </a:r>
            <a:endParaRPr lang="en-US" sz="1100" dirty="0"/>
          </a:p>
          <a:p>
            <a:pPr indent="0" marL="0">
              <a:spcAft>
                <a:spcPts val="400"/>
              </a:spcAft>
              <a:buNone/>
            </a:pPr>
            <a:r>
              <a:rPr lang="en-US" sz="600" dirty="0">
                <a:solidFill>
                  <a:srgbClr val="000000"/>
                </a:solidFill>
              </a:rPr>
              <a:t> </a:t>
            </a:r>
            <a:endParaRPr lang="en-US" sz="1100" dirty="0"/>
          </a:p>
          <a:p>
            <a:pPr indent="0" marL="0">
              <a:spcAft>
                <a:spcPts val="400"/>
              </a:spcAft>
              <a:buNone/>
            </a:pPr>
            <a:r>
              <a:rPr lang="en-US" sz="1300" b="1" dirty="0">
                <a:solidFill>
                  <a:schemeClr val="accent3"/>
                </a:solidFill>
              </a:rPr>
              <a:t>Fix  </a:t>
            </a:r>
            <a:pPr indent="0" marL="0">
              <a:spcAft>
                <a:spcPts val="400"/>
              </a:spcAft>
              <a:buNone/>
            </a:pPr>
            <a:r>
              <a:rPr lang="en-US" sz="1300" dirty="0">
                <a:solidFill>
                  <a:schemeClr val="tx1"/>
                </a:solidFill>
              </a:rPr>
              <a:t>Show the command as text: ducktape login --workspace &lt;name&gt; --region eu-west</a:t>
            </a:r>
            <a:endParaRPr lang="en-US" sz="1100" dirty="0"/>
          </a:p>
        </p:txBody>
      </p:sp>
      <p:sp>
        <p:nvSpPr>
          <p:cNvPr id="13" name="3  DIAGNOSIS text"/>
          <p:cNvSpPr txBox="1"/>
          <p:nvPr/>
        </p:nvSpPr>
        <p:spPr>
          <a:xfrm>
            <a:off x="8158277" y="5029200"/>
            <a:ext cx="3484778" cy="1097280"/>
          </a:xfrm>
          <a:prstGeom prst="rect">
            <a:avLst/>
          </a:prstGeom>
          <a:noFill/>
          <a:ln/>
        </p:spPr>
        <p:txBody>
          <a:bodyPr wrap="square" lIns="0" tIns="0" rIns="0" bIns="0" rtlCol="0" anchor="t"/>
          <a:lstStyle/>
          <a:p>
            <a:pPr indent="0" marL="0">
              <a:buNone/>
            </a:pPr>
            <a:r>
              <a:rPr lang="en-US" sz="1400" dirty="0">
                <a:solidFill>
                  <a:schemeClr val="tx1"/>
                </a:solidFill>
              </a:rPr>
              <a:t>Every failure with its cause, the evidence and the exact fix, e.g. "a required CLI flag was only shown in a screenshot"</a:t>
            </a:r>
            <a:endParaRPr lang="en-US" sz="14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Three ways to read a page. One strict judge</a:t>
            </a:r>
            <a:endParaRPr lang="en-US" sz="3200" dirty="0"/>
          </a:p>
        </p:txBody>
      </p:sp>
      <p:sp>
        <p:nvSpPr>
          <p:cNvPr id="3" name="Docs page"/>
          <p:cNvSpPr/>
          <p:nvPr/>
        </p:nvSpPr>
        <p:spPr>
          <a:xfrm>
            <a:off x="548640" y="2642616"/>
            <a:ext cx="1600200" cy="1005840"/>
          </a:xfrm>
          <a:prstGeom prst="roundRect">
            <a:avLst>
              <a:gd name="adj" fmla="val 9091"/>
            </a:avLst>
          </a:prstGeom>
          <a:solidFill>
            <a:schemeClr val="tx2"/>
          </a:solidFill>
          <a:ln/>
        </p:spPr>
      </p:sp>
      <p:sp>
        <p:nvSpPr>
          <p:cNvPr id="4" name="Docs page text"/>
          <p:cNvSpPr txBox="1"/>
          <p:nvPr/>
        </p:nvSpPr>
        <p:spPr>
          <a:xfrm>
            <a:off x="658368" y="2642616"/>
            <a:ext cx="1380744" cy="1005840"/>
          </a:xfrm>
          <a:prstGeom prst="rect">
            <a:avLst/>
          </a:prstGeom>
          <a:noFill/>
          <a:ln/>
        </p:spPr>
        <p:txBody>
          <a:bodyPr wrap="square" lIns="0" tIns="0" rIns="0" bIns="0" rtlCol="0" anchor="ctr"/>
          <a:lstStyle/>
          <a:p>
            <a:pPr algn="ctr" indent="0" marL="0">
              <a:buNone/>
            </a:pPr>
            <a:r>
              <a:rPr lang="en-US" sz="1500" b="1" dirty="0">
                <a:solidFill>
                  <a:schemeClr val="bg1"/>
                </a:solidFill>
              </a:rPr>
              <a:t>Docs page</a:t>
            </a:r>
            <a:endParaRPr lang="en-US" sz="1500" dirty="0"/>
          </a:p>
          <a:p>
            <a:pPr algn="ctr" indent="0" marL="0">
              <a:buNone/>
            </a:pPr>
            <a:r>
              <a:rPr lang="en-US" sz="1100" dirty="0">
                <a:solidFill>
                  <a:schemeClr val="bg1"/>
                </a:solidFill>
              </a:rPr>
              <a:t>URL or pasted</a:t>
            </a:r>
            <a:endParaRPr lang="en-US" sz="1500" dirty="0"/>
          </a:p>
        </p:txBody>
      </p:sp>
      <p:sp>
        <p:nvSpPr>
          <p:cNvPr id="5" name="View Raw HTML"/>
          <p:cNvSpPr/>
          <p:nvPr/>
        </p:nvSpPr>
        <p:spPr>
          <a:xfrm>
            <a:off x="2743200" y="1874520"/>
            <a:ext cx="1965960" cy="713232"/>
          </a:xfrm>
          <a:prstGeom prst="roundRect">
            <a:avLst>
              <a:gd name="adj" fmla="val 12821"/>
            </a:avLst>
          </a:prstGeom>
          <a:solidFill>
            <a:schemeClr val="bg2"/>
          </a:solidFill>
          <a:ln/>
        </p:spPr>
      </p:sp>
      <p:sp>
        <p:nvSpPr>
          <p:cNvPr id="6" name="View Raw HTML text"/>
          <p:cNvSpPr txBox="1"/>
          <p:nvPr/>
        </p:nvSpPr>
        <p:spPr>
          <a:xfrm>
            <a:off x="2852928" y="1874520"/>
            <a:ext cx="1746504" cy="713232"/>
          </a:xfrm>
          <a:prstGeom prst="rect">
            <a:avLst/>
          </a:prstGeom>
          <a:noFill/>
          <a:ln/>
        </p:spPr>
        <p:txBody>
          <a:bodyPr wrap="square" lIns="0" tIns="0" rIns="0" bIns="0" rtlCol="0" anchor="ctr"/>
          <a:lstStyle/>
          <a:p>
            <a:pPr algn="ctr" indent="0" marL="0">
              <a:buNone/>
            </a:pPr>
            <a:r>
              <a:rPr lang="en-US" sz="1500" b="1" dirty="0">
                <a:solidFill>
                  <a:schemeClr val="tx2"/>
                </a:solidFill>
              </a:rPr>
              <a:t>Raw HTML</a:t>
            </a:r>
            <a:endParaRPr lang="en-US" sz="1500" dirty="0"/>
          </a:p>
          <a:p>
            <a:pPr algn="ctr" indent="0" marL="0">
              <a:buNone/>
            </a:pPr>
            <a:r>
              <a:rPr lang="en-US" sz="1100" dirty="0">
                <a:solidFill>
                  <a:schemeClr val="tx2"/>
                </a:solidFill>
              </a:rPr>
              <a:t>naive fetch</a:t>
            </a:r>
            <a:endParaRPr lang="en-US" sz="1500" dirty="0"/>
          </a:p>
        </p:txBody>
      </p:sp>
      <p:sp>
        <p:nvSpPr>
          <p:cNvPr id="7" name="Agent 1"/>
          <p:cNvSpPr/>
          <p:nvPr/>
        </p:nvSpPr>
        <p:spPr>
          <a:xfrm>
            <a:off x="5257800" y="1874520"/>
            <a:ext cx="1828800" cy="713232"/>
          </a:xfrm>
          <a:prstGeom prst="roundRect">
            <a:avLst>
              <a:gd name="adj" fmla="val 12821"/>
            </a:avLst>
          </a:prstGeom>
          <a:solidFill>
            <a:schemeClr val="bg2"/>
          </a:solidFill>
          <a:ln/>
        </p:spPr>
      </p:sp>
      <p:sp>
        <p:nvSpPr>
          <p:cNvPr id="8" name="Agent 1 text"/>
          <p:cNvSpPr txBox="1"/>
          <p:nvPr/>
        </p:nvSpPr>
        <p:spPr>
          <a:xfrm>
            <a:off x="5367528" y="1874520"/>
            <a:ext cx="1609344" cy="713232"/>
          </a:xfrm>
          <a:prstGeom prst="rect">
            <a:avLst/>
          </a:prstGeom>
          <a:noFill/>
          <a:ln/>
        </p:spPr>
        <p:txBody>
          <a:bodyPr wrap="square" lIns="0" tIns="0" rIns="0" bIns="0" rtlCol="0" anchor="ctr"/>
          <a:lstStyle/>
          <a:p>
            <a:pPr algn="ctr" indent="0" marL="0">
              <a:buNone/>
            </a:pPr>
            <a:r>
              <a:rPr lang="en-US" sz="1500" b="1" dirty="0">
                <a:solidFill>
                  <a:schemeClr val="tx2"/>
                </a:solidFill>
              </a:rPr>
              <a:t>Agent</a:t>
            </a:r>
            <a:endParaRPr lang="en-US" sz="1500" dirty="0"/>
          </a:p>
          <a:p>
            <a:pPr algn="ctr" indent="0" marL="0">
              <a:buNone/>
            </a:pPr>
            <a:r>
              <a:rPr lang="en-US" sz="1100" dirty="0">
                <a:solidFill>
                  <a:schemeClr val="tx2"/>
                </a:solidFill>
              </a:rPr>
              <a:t>gpt-4.1-mini</a:t>
            </a:r>
            <a:endParaRPr lang="en-US" sz="1500" dirty="0"/>
          </a:p>
        </p:txBody>
      </p:sp>
      <p:sp>
        <p:nvSpPr>
          <p:cNvPr id="9" name="Arrow page to view 1"/>
          <p:cNvSpPr/>
          <p:nvPr/>
        </p:nvSpPr>
        <p:spPr>
          <a:xfrm flipV="1">
            <a:off x="2148840" y="2231136"/>
            <a:ext cx="594360" cy="914400"/>
          </a:xfrm>
          <a:prstGeom prst="line">
            <a:avLst/>
          </a:prstGeom>
          <a:noFill/>
          <a:ln w="19050">
            <a:solidFill>
              <a:srgbClr val="6B7280"/>
            </a:solidFill>
            <a:prstDash val="solid"/>
            <a:tailEnd type="triangle"/>
          </a:ln>
        </p:spPr>
      </p:sp>
      <p:sp>
        <p:nvSpPr>
          <p:cNvPr id="10" name="Arrow view to agent 1"/>
          <p:cNvSpPr/>
          <p:nvPr/>
        </p:nvSpPr>
        <p:spPr>
          <a:xfrm>
            <a:off x="4709160" y="2231136"/>
            <a:ext cx="548640" cy="914"/>
          </a:xfrm>
          <a:prstGeom prst="line">
            <a:avLst/>
          </a:prstGeom>
          <a:noFill/>
          <a:ln w="19050">
            <a:solidFill>
              <a:srgbClr val="6B7280"/>
            </a:solidFill>
            <a:prstDash val="solid"/>
            <a:tailEnd type="triangle"/>
          </a:ln>
        </p:spPr>
      </p:sp>
      <p:sp>
        <p:nvSpPr>
          <p:cNvPr id="11" name="Arrow agent 1 to judge"/>
          <p:cNvSpPr/>
          <p:nvPr/>
        </p:nvSpPr>
        <p:spPr>
          <a:xfrm>
            <a:off x="7086600" y="2231136"/>
            <a:ext cx="594360" cy="914400"/>
          </a:xfrm>
          <a:prstGeom prst="line">
            <a:avLst/>
          </a:prstGeom>
          <a:noFill/>
          <a:ln w="19050">
            <a:solidFill>
              <a:srgbClr val="6B7280"/>
            </a:solidFill>
            <a:prstDash val="solid"/>
            <a:tailEnd type="triangle"/>
          </a:ln>
        </p:spPr>
      </p:sp>
      <p:sp>
        <p:nvSpPr>
          <p:cNvPr id="12" name="View Reader mode"/>
          <p:cNvSpPr/>
          <p:nvPr/>
        </p:nvSpPr>
        <p:spPr>
          <a:xfrm>
            <a:off x="2743200" y="2788920"/>
            <a:ext cx="1965960" cy="713232"/>
          </a:xfrm>
          <a:prstGeom prst="roundRect">
            <a:avLst>
              <a:gd name="adj" fmla="val 12821"/>
            </a:avLst>
          </a:prstGeom>
          <a:solidFill>
            <a:schemeClr val="bg2"/>
          </a:solidFill>
          <a:ln/>
        </p:spPr>
      </p:sp>
      <p:sp>
        <p:nvSpPr>
          <p:cNvPr id="13" name="View Reader mode text"/>
          <p:cNvSpPr txBox="1"/>
          <p:nvPr/>
        </p:nvSpPr>
        <p:spPr>
          <a:xfrm>
            <a:off x="2852928" y="2788920"/>
            <a:ext cx="1746504" cy="713232"/>
          </a:xfrm>
          <a:prstGeom prst="rect">
            <a:avLst/>
          </a:prstGeom>
          <a:noFill/>
          <a:ln/>
        </p:spPr>
        <p:txBody>
          <a:bodyPr wrap="square" lIns="0" tIns="0" rIns="0" bIns="0" rtlCol="0" anchor="ctr"/>
          <a:lstStyle/>
          <a:p>
            <a:pPr algn="ctr" indent="0" marL="0">
              <a:buNone/>
            </a:pPr>
            <a:r>
              <a:rPr lang="en-US" sz="1500" b="1" dirty="0">
                <a:solidFill>
                  <a:schemeClr val="tx2"/>
                </a:solidFill>
              </a:rPr>
              <a:t>Reader mode</a:t>
            </a:r>
            <a:endParaRPr lang="en-US" sz="1500" dirty="0"/>
          </a:p>
          <a:p>
            <a:pPr algn="ctr" indent="0" marL="0">
              <a:buNone/>
            </a:pPr>
            <a:r>
              <a:rPr lang="en-US" sz="1100" dirty="0">
                <a:solidFill>
                  <a:schemeClr val="tx2"/>
                </a:solidFill>
              </a:rPr>
              <a:t>most assistants</a:t>
            </a:r>
            <a:endParaRPr lang="en-US" sz="1500" dirty="0"/>
          </a:p>
        </p:txBody>
      </p:sp>
      <p:sp>
        <p:nvSpPr>
          <p:cNvPr id="14" name="Agent 2"/>
          <p:cNvSpPr/>
          <p:nvPr/>
        </p:nvSpPr>
        <p:spPr>
          <a:xfrm>
            <a:off x="5257800" y="2788920"/>
            <a:ext cx="1828800" cy="713232"/>
          </a:xfrm>
          <a:prstGeom prst="roundRect">
            <a:avLst>
              <a:gd name="adj" fmla="val 12821"/>
            </a:avLst>
          </a:prstGeom>
          <a:solidFill>
            <a:schemeClr val="bg2"/>
          </a:solidFill>
          <a:ln/>
        </p:spPr>
      </p:sp>
      <p:sp>
        <p:nvSpPr>
          <p:cNvPr id="15" name="Agent 2 text"/>
          <p:cNvSpPr txBox="1"/>
          <p:nvPr/>
        </p:nvSpPr>
        <p:spPr>
          <a:xfrm>
            <a:off x="5367528" y="2788920"/>
            <a:ext cx="1609344" cy="713232"/>
          </a:xfrm>
          <a:prstGeom prst="rect">
            <a:avLst/>
          </a:prstGeom>
          <a:noFill/>
          <a:ln/>
        </p:spPr>
        <p:txBody>
          <a:bodyPr wrap="square" lIns="0" tIns="0" rIns="0" bIns="0" rtlCol="0" anchor="ctr"/>
          <a:lstStyle/>
          <a:p>
            <a:pPr algn="ctr" indent="0" marL="0">
              <a:buNone/>
            </a:pPr>
            <a:r>
              <a:rPr lang="en-US" sz="1500" b="1" dirty="0">
                <a:solidFill>
                  <a:schemeClr val="tx2"/>
                </a:solidFill>
              </a:rPr>
              <a:t>Agent</a:t>
            </a:r>
            <a:endParaRPr lang="en-US" sz="1500" dirty="0"/>
          </a:p>
          <a:p>
            <a:pPr algn="ctr" indent="0" marL="0">
              <a:buNone/>
            </a:pPr>
            <a:r>
              <a:rPr lang="en-US" sz="1100" dirty="0">
                <a:solidFill>
                  <a:schemeClr val="tx2"/>
                </a:solidFill>
              </a:rPr>
              <a:t>gpt-4.1-mini</a:t>
            </a:r>
            <a:endParaRPr lang="en-US" sz="1500" dirty="0"/>
          </a:p>
        </p:txBody>
      </p:sp>
      <p:sp>
        <p:nvSpPr>
          <p:cNvPr id="16" name="Arrow page to view 2"/>
          <p:cNvSpPr/>
          <p:nvPr/>
        </p:nvSpPr>
        <p:spPr>
          <a:xfrm>
            <a:off x="2148840" y="3145536"/>
            <a:ext cx="594360" cy="0"/>
          </a:xfrm>
          <a:prstGeom prst="line">
            <a:avLst/>
          </a:prstGeom>
          <a:noFill/>
          <a:ln w="19050">
            <a:solidFill>
              <a:srgbClr val="6B7280"/>
            </a:solidFill>
            <a:prstDash val="solid"/>
            <a:tailEnd type="triangle"/>
          </a:ln>
        </p:spPr>
      </p:sp>
      <p:sp>
        <p:nvSpPr>
          <p:cNvPr id="17" name="Arrow view to agent 2"/>
          <p:cNvSpPr/>
          <p:nvPr/>
        </p:nvSpPr>
        <p:spPr>
          <a:xfrm>
            <a:off x="4709160" y="3145536"/>
            <a:ext cx="548640" cy="914"/>
          </a:xfrm>
          <a:prstGeom prst="line">
            <a:avLst/>
          </a:prstGeom>
          <a:noFill/>
          <a:ln w="19050">
            <a:solidFill>
              <a:srgbClr val="6B7280"/>
            </a:solidFill>
            <a:prstDash val="solid"/>
            <a:tailEnd type="triangle"/>
          </a:ln>
        </p:spPr>
      </p:sp>
      <p:sp>
        <p:nvSpPr>
          <p:cNvPr id="18" name="Arrow agent 2 to judge"/>
          <p:cNvSpPr/>
          <p:nvPr/>
        </p:nvSpPr>
        <p:spPr>
          <a:xfrm flipV="1">
            <a:off x="7086600" y="3145536"/>
            <a:ext cx="594360" cy="0"/>
          </a:xfrm>
          <a:prstGeom prst="line">
            <a:avLst/>
          </a:prstGeom>
          <a:noFill/>
          <a:ln w="19050">
            <a:solidFill>
              <a:srgbClr val="6B7280"/>
            </a:solidFill>
            <a:prstDash val="solid"/>
            <a:tailEnd type="triangle"/>
          </a:ln>
        </p:spPr>
      </p:sp>
      <p:sp>
        <p:nvSpPr>
          <p:cNvPr id="19" name="View llms.txt"/>
          <p:cNvSpPr/>
          <p:nvPr/>
        </p:nvSpPr>
        <p:spPr>
          <a:xfrm>
            <a:off x="2743200" y="3703320"/>
            <a:ext cx="1965960" cy="713232"/>
          </a:xfrm>
          <a:prstGeom prst="roundRect">
            <a:avLst>
              <a:gd name="adj" fmla="val 12821"/>
            </a:avLst>
          </a:prstGeom>
          <a:solidFill>
            <a:schemeClr val="bg2"/>
          </a:solidFill>
          <a:ln/>
        </p:spPr>
      </p:sp>
      <p:sp>
        <p:nvSpPr>
          <p:cNvPr id="20" name="View llms.txt text"/>
          <p:cNvSpPr txBox="1"/>
          <p:nvPr/>
        </p:nvSpPr>
        <p:spPr>
          <a:xfrm>
            <a:off x="2852928" y="3703320"/>
            <a:ext cx="1746504" cy="713232"/>
          </a:xfrm>
          <a:prstGeom prst="rect">
            <a:avLst/>
          </a:prstGeom>
          <a:noFill/>
          <a:ln/>
        </p:spPr>
        <p:txBody>
          <a:bodyPr wrap="square" lIns="0" tIns="0" rIns="0" bIns="0" rtlCol="0" anchor="ctr"/>
          <a:lstStyle/>
          <a:p>
            <a:pPr algn="ctr" indent="0" marL="0">
              <a:buNone/>
            </a:pPr>
            <a:r>
              <a:rPr lang="en-US" sz="1500" b="1" dirty="0">
                <a:solidFill>
                  <a:schemeClr val="tx2"/>
                </a:solidFill>
              </a:rPr>
              <a:t>llms.txt</a:t>
            </a:r>
            <a:endParaRPr lang="en-US" sz="1500" dirty="0"/>
          </a:p>
          <a:p>
            <a:pPr algn="ctr" indent="0" marL="0">
              <a:buNone/>
            </a:pPr>
            <a:r>
              <a:rPr lang="en-US" sz="1100" dirty="0">
                <a:solidFill>
                  <a:schemeClr val="tx2"/>
                </a:solidFill>
              </a:rPr>
              <a:t>AI-friendly docs</a:t>
            </a:r>
            <a:endParaRPr lang="en-US" sz="1500" dirty="0"/>
          </a:p>
        </p:txBody>
      </p:sp>
      <p:sp>
        <p:nvSpPr>
          <p:cNvPr id="21" name="Agent 3"/>
          <p:cNvSpPr/>
          <p:nvPr/>
        </p:nvSpPr>
        <p:spPr>
          <a:xfrm>
            <a:off x="5257800" y="3703320"/>
            <a:ext cx="1828800" cy="713232"/>
          </a:xfrm>
          <a:prstGeom prst="roundRect">
            <a:avLst>
              <a:gd name="adj" fmla="val 12821"/>
            </a:avLst>
          </a:prstGeom>
          <a:solidFill>
            <a:schemeClr val="bg2"/>
          </a:solidFill>
          <a:ln/>
        </p:spPr>
      </p:sp>
      <p:sp>
        <p:nvSpPr>
          <p:cNvPr id="22" name="Agent 3 text"/>
          <p:cNvSpPr txBox="1"/>
          <p:nvPr/>
        </p:nvSpPr>
        <p:spPr>
          <a:xfrm>
            <a:off x="5367528" y="3703320"/>
            <a:ext cx="1609344" cy="713232"/>
          </a:xfrm>
          <a:prstGeom prst="rect">
            <a:avLst/>
          </a:prstGeom>
          <a:noFill/>
          <a:ln/>
        </p:spPr>
        <p:txBody>
          <a:bodyPr wrap="square" lIns="0" tIns="0" rIns="0" bIns="0" rtlCol="0" anchor="ctr"/>
          <a:lstStyle/>
          <a:p>
            <a:pPr algn="ctr" indent="0" marL="0">
              <a:buNone/>
            </a:pPr>
            <a:r>
              <a:rPr lang="en-US" sz="1500" b="1" dirty="0">
                <a:solidFill>
                  <a:schemeClr val="tx2"/>
                </a:solidFill>
              </a:rPr>
              <a:t>Agent</a:t>
            </a:r>
            <a:endParaRPr lang="en-US" sz="1500" dirty="0"/>
          </a:p>
          <a:p>
            <a:pPr algn="ctr" indent="0" marL="0">
              <a:buNone/>
            </a:pPr>
            <a:r>
              <a:rPr lang="en-US" sz="1100" dirty="0">
                <a:solidFill>
                  <a:schemeClr val="tx2"/>
                </a:solidFill>
              </a:rPr>
              <a:t>gpt-4.1-mini</a:t>
            </a:r>
            <a:endParaRPr lang="en-US" sz="1500" dirty="0"/>
          </a:p>
        </p:txBody>
      </p:sp>
      <p:sp>
        <p:nvSpPr>
          <p:cNvPr id="23" name="Arrow page to view 3"/>
          <p:cNvSpPr/>
          <p:nvPr/>
        </p:nvSpPr>
        <p:spPr>
          <a:xfrm>
            <a:off x="2148840" y="3145536"/>
            <a:ext cx="594360" cy="914400"/>
          </a:xfrm>
          <a:prstGeom prst="line">
            <a:avLst/>
          </a:prstGeom>
          <a:noFill/>
          <a:ln w="19050">
            <a:solidFill>
              <a:srgbClr val="6B7280"/>
            </a:solidFill>
            <a:prstDash val="solid"/>
            <a:tailEnd type="triangle"/>
          </a:ln>
        </p:spPr>
      </p:sp>
      <p:sp>
        <p:nvSpPr>
          <p:cNvPr id="24" name="Arrow view to agent 3"/>
          <p:cNvSpPr/>
          <p:nvPr/>
        </p:nvSpPr>
        <p:spPr>
          <a:xfrm>
            <a:off x="4709160" y="4059936"/>
            <a:ext cx="548640" cy="914"/>
          </a:xfrm>
          <a:prstGeom prst="line">
            <a:avLst/>
          </a:prstGeom>
          <a:noFill/>
          <a:ln w="19050">
            <a:solidFill>
              <a:srgbClr val="6B7280"/>
            </a:solidFill>
            <a:prstDash val="solid"/>
            <a:tailEnd type="triangle"/>
          </a:ln>
        </p:spPr>
      </p:sp>
      <p:sp>
        <p:nvSpPr>
          <p:cNvPr id="25" name="Arrow agent 3 to judge"/>
          <p:cNvSpPr/>
          <p:nvPr/>
        </p:nvSpPr>
        <p:spPr>
          <a:xfrm flipV="1">
            <a:off x="7086600" y="3145536"/>
            <a:ext cx="594360" cy="914400"/>
          </a:xfrm>
          <a:prstGeom prst="line">
            <a:avLst/>
          </a:prstGeom>
          <a:noFill/>
          <a:ln w="19050">
            <a:solidFill>
              <a:srgbClr val="6B7280"/>
            </a:solidFill>
            <a:prstDash val="solid"/>
            <a:tailEnd type="triangle"/>
          </a:ln>
        </p:spPr>
      </p:sp>
      <p:sp>
        <p:nvSpPr>
          <p:cNvPr id="26" name="Judge"/>
          <p:cNvSpPr/>
          <p:nvPr/>
        </p:nvSpPr>
        <p:spPr>
          <a:xfrm>
            <a:off x="7680960" y="2368296"/>
            <a:ext cx="1920240" cy="1554480"/>
          </a:xfrm>
          <a:prstGeom prst="roundRect">
            <a:avLst>
              <a:gd name="adj" fmla="val 5882"/>
            </a:avLst>
          </a:prstGeom>
          <a:solidFill>
            <a:schemeClr val="accent1"/>
          </a:solidFill>
          <a:ln/>
        </p:spPr>
      </p:sp>
      <p:sp>
        <p:nvSpPr>
          <p:cNvPr id="27" name="Judge text"/>
          <p:cNvSpPr txBox="1"/>
          <p:nvPr/>
        </p:nvSpPr>
        <p:spPr>
          <a:xfrm>
            <a:off x="7790688" y="2368296"/>
            <a:ext cx="1700784" cy="1554480"/>
          </a:xfrm>
          <a:prstGeom prst="rect">
            <a:avLst/>
          </a:prstGeom>
          <a:noFill/>
          <a:ln/>
        </p:spPr>
        <p:txBody>
          <a:bodyPr wrap="square" lIns="0" tIns="0" rIns="0" bIns="0" rtlCol="0" anchor="ctr"/>
          <a:lstStyle/>
          <a:p>
            <a:pPr algn="ctr" indent="0" marL="0">
              <a:buNone/>
            </a:pPr>
            <a:r>
              <a:rPr lang="en-US" sz="1500" b="1" dirty="0">
                <a:solidFill>
                  <a:schemeClr val="bg1"/>
                </a:solidFill>
              </a:rPr>
              <a:t>Judge</a:t>
            </a:r>
            <a:endParaRPr lang="en-US" sz="1500" dirty="0"/>
          </a:p>
          <a:p>
            <a:pPr algn="ctr" indent="0" marL="0">
              <a:buNone/>
            </a:pPr>
            <a:r>
              <a:rPr lang="en-US" sz="1100" dirty="0">
                <a:solidFill>
                  <a:schemeClr val="bg1"/>
                </a:solidFill>
              </a:rPr>
              <a:t>gpt-4.1 · sees the full page as humans do</a:t>
            </a:r>
            <a:endParaRPr lang="en-US" sz="1500" dirty="0"/>
          </a:p>
        </p:txBody>
      </p:sp>
      <p:sp>
        <p:nvSpPr>
          <p:cNvPr id="28" name="Output"/>
          <p:cNvSpPr/>
          <p:nvPr/>
        </p:nvSpPr>
        <p:spPr>
          <a:xfrm>
            <a:off x="10058400" y="2505456"/>
            <a:ext cx="1581912" cy="1280160"/>
          </a:xfrm>
          <a:prstGeom prst="roundRect">
            <a:avLst>
              <a:gd name="adj" fmla="val 7143"/>
            </a:avLst>
          </a:prstGeom>
          <a:solidFill>
            <a:schemeClr val="accent3"/>
          </a:solidFill>
          <a:ln/>
        </p:spPr>
      </p:sp>
      <p:sp>
        <p:nvSpPr>
          <p:cNvPr id="29" name="Output text"/>
          <p:cNvSpPr txBox="1"/>
          <p:nvPr/>
        </p:nvSpPr>
        <p:spPr>
          <a:xfrm>
            <a:off x="10168128" y="2505456"/>
            <a:ext cx="1362456" cy="1280160"/>
          </a:xfrm>
          <a:prstGeom prst="rect">
            <a:avLst/>
          </a:prstGeom>
          <a:noFill/>
          <a:ln/>
        </p:spPr>
        <p:txBody>
          <a:bodyPr wrap="square" lIns="0" tIns="0" rIns="0" bIns="0" rtlCol="0" anchor="ctr"/>
          <a:lstStyle/>
          <a:p>
            <a:pPr algn="ctr" indent="0" marL="0">
              <a:buNone/>
            </a:pPr>
            <a:r>
              <a:rPr lang="en-US" sz="1500" b="1" dirty="0">
                <a:solidFill>
                  <a:schemeClr val="bg1"/>
                </a:solidFill>
              </a:rPr>
              <a:t>AIO Score</a:t>
            </a:r>
            <a:endParaRPr lang="en-US" sz="1500" dirty="0"/>
          </a:p>
          <a:p>
            <a:pPr algn="ctr" indent="0" marL="0">
              <a:buNone/>
            </a:pPr>
            <a:r>
              <a:rPr lang="en-US" sz="1100" dirty="0">
                <a:solidFill>
                  <a:schemeClr val="bg1"/>
                </a:solidFill>
              </a:rPr>
              <a:t>cause and fix for every failure</a:t>
            </a:r>
            <a:endParaRPr lang="en-US" sz="1500" dirty="0"/>
          </a:p>
        </p:txBody>
      </p:sp>
      <p:sp>
        <p:nvSpPr>
          <p:cNvPr id="30" name="Arrow judge to output"/>
          <p:cNvSpPr/>
          <p:nvPr/>
        </p:nvSpPr>
        <p:spPr>
          <a:xfrm>
            <a:off x="9601200" y="3145536"/>
            <a:ext cx="457200" cy="914"/>
          </a:xfrm>
          <a:prstGeom prst="line">
            <a:avLst/>
          </a:prstGeom>
          <a:noFill/>
          <a:ln w="19050">
            <a:solidFill>
              <a:srgbClr val="6B7280"/>
            </a:solidFill>
            <a:prstDash val="solid"/>
            <a:tailEnd type="triangle"/>
          </a:ln>
        </p:spPr>
      </p:sp>
      <p:sp>
        <p:nvSpPr>
          <p:cNvPr id="31" name="Ground truth up"/>
          <p:cNvSpPr/>
          <p:nvPr/>
        </p:nvSpPr>
        <p:spPr>
          <a:xfrm>
            <a:off x="1348740" y="1481328"/>
            <a:ext cx="0" cy="1161288"/>
          </a:xfrm>
          <a:prstGeom prst="line">
            <a:avLst/>
          </a:prstGeom>
          <a:noFill/>
          <a:ln w="19050">
            <a:solidFill>
              <a:srgbClr val="C2553B"/>
            </a:solidFill>
            <a:prstDash val="dash"/>
          </a:ln>
        </p:spPr>
      </p:sp>
      <p:sp>
        <p:nvSpPr>
          <p:cNvPr id="32" name="Ground truth across"/>
          <p:cNvSpPr/>
          <p:nvPr/>
        </p:nvSpPr>
        <p:spPr>
          <a:xfrm>
            <a:off x="1348740" y="1481328"/>
            <a:ext cx="7292340" cy="0"/>
          </a:xfrm>
          <a:prstGeom prst="line">
            <a:avLst/>
          </a:prstGeom>
          <a:noFill/>
          <a:ln w="19050">
            <a:solidFill>
              <a:srgbClr val="C2553B"/>
            </a:solidFill>
            <a:prstDash val="dash"/>
          </a:ln>
        </p:spPr>
      </p:sp>
      <p:sp>
        <p:nvSpPr>
          <p:cNvPr id="33" name="Ground truth down"/>
          <p:cNvSpPr/>
          <p:nvPr/>
        </p:nvSpPr>
        <p:spPr>
          <a:xfrm>
            <a:off x="8641080" y="1481328"/>
            <a:ext cx="0" cy="886968"/>
          </a:xfrm>
          <a:prstGeom prst="line">
            <a:avLst/>
          </a:prstGeom>
          <a:noFill/>
          <a:ln w="19050">
            <a:solidFill>
              <a:srgbClr val="C2553B"/>
            </a:solidFill>
            <a:prstDash val="dash"/>
            <a:tailEnd type="triangle"/>
          </a:ln>
        </p:spPr>
      </p:sp>
      <p:sp>
        <p:nvSpPr>
          <p:cNvPr id="34" name="Ground truth label"/>
          <p:cNvSpPr txBox="1"/>
          <p:nvPr/>
        </p:nvSpPr>
        <p:spPr>
          <a:xfrm>
            <a:off x="2743200" y="1179576"/>
            <a:ext cx="5760720" cy="274320"/>
          </a:xfrm>
          <a:prstGeom prst="rect">
            <a:avLst/>
          </a:prstGeom>
          <a:noFill/>
          <a:ln/>
        </p:spPr>
        <p:txBody>
          <a:bodyPr wrap="square" lIns="0" tIns="0" rIns="0" bIns="0" rtlCol="0" anchor="t"/>
          <a:lstStyle/>
          <a:p>
            <a:pPr indent="0" marL="0">
              <a:buNone/>
            </a:pPr>
            <a:r>
              <a:rPr lang="en-US" sz="1200" i="1" dirty="0">
                <a:solidFill>
                  <a:schemeClr val="accent2"/>
                </a:solidFill>
              </a:rPr>
              <a:t>Ground truth: tooltips, hidden tabs, screenshots and scripts the agents never saw</a:t>
            </a:r>
            <a:endParaRPr lang="en-US" sz="1200" dirty="0"/>
          </a:p>
        </p:txBody>
      </p:sp>
      <p:sp>
        <p:nvSpPr>
          <p:cNvPr id="35" name="MODELS &amp; PRIVACY icon bg"/>
          <p:cNvSpPr/>
          <p:nvPr/>
        </p:nvSpPr>
        <p:spPr>
          <a:xfrm>
            <a:off x="548640" y="4709160"/>
            <a:ext cx="384048" cy="384048"/>
          </a:xfrm>
          <a:prstGeom prst="ellipse">
            <a:avLst/>
          </a:prstGeom>
          <a:solidFill>
            <a:schemeClr val="accent1"/>
          </a:solidFill>
          <a:ln/>
        </p:spPr>
      </p:sp>
      <p:pic>
        <p:nvPicPr>
          <p:cNvPr id="36" name="MODELS &amp; PRIVACY icon" descr="preencoded.png">    </p:cNvPr>
          <p:cNvPicPr>
            <a:picLocks noChangeAspect="1"/>
          </p:cNvPicPr>
          <p:nvPr/>
        </p:nvPicPr>
        <p:blipFill>
          <a:blip r:embed="rId1"/>
          <a:stretch>
            <a:fillRect/>
          </a:stretch>
        </p:blipFill>
        <p:spPr>
          <a:xfrm>
            <a:off x="644652" y="4805172"/>
            <a:ext cx="192024" cy="192024"/>
          </a:xfrm>
          <a:prstGeom prst="rect">
            <a:avLst/>
          </a:prstGeom>
        </p:spPr>
      </p:pic>
      <p:sp>
        <p:nvSpPr>
          <p:cNvPr id="37" name="MODELS &amp;amp; PRIVACY label"/>
          <p:cNvSpPr txBox="1"/>
          <p:nvPr/>
        </p:nvSpPr>
        <p:spPr>
          <a:xfrm>
            <a:off x="1051560" y="4764024"/>
            <a:ext cx="2064944"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MODELS &amp; PRIVACY</a:t>
            </a:r>
            <a:endParaRPr lang="en-US" sz="1100" dirty="0"/>
          </a:p>
        </p:txBody>
      </p:sp>
      <p:sp>
        <p:nvSpPr>
          <p:cNvPr id="38" name="MODELS &amp;amp; PRIVACY text"/>
          <p:cNvSpPr txBox="1"/>
          <p:nvPr/>
        </p:nvSpPr>
        <p:spPr>
          <a:xfrm>
            <a:off x="548640" y="5193792"/>
            <a:ext cx="2567864" cy="1097280"/>
          </a:xfrm>
          <a:prstGeom prst="rect">
            <a:avLst/>
          </a:prstGeom>
          <a:noFill/>
          <a:ln/>
        </p:spPr>
        <p:txBody>
          <a:bodyPr wrap="square" lIns="0" tIns="0" rIns="0" bIns="0" rtlCol="0" anchor="t"/>
          <a:lstStyle/>
          <a:p>
            <a:pPr indent="0" marL="0">
              <a:buNone/>
            </a:pPr>
            <a:r>
              <a:rPr lang="en-US" sz="1200" dirty="0">
                <a:solidFill>
                  <a:schemeClr val="tx1"/>
                </a:solidFill>
              </a:rPr>
              <a:t>OpenAI gpt-4.1-mini agents, gpt-4.1 judge. Only the submitted page is processed; nothing is used for training</a:t>
            </a:r>
            <a:endParaRPr lang="en-US" sz="1200" dirty="0"/>
          </a:p>
        </p:txBody>
      </p:sp>
      <p:sp>
        <p:nvSpPr>
          <p:cNvPr id="39" name="GUARDRAILS icon bg"/>
          <p:cNvSpPr/>
          <p:nvPr/>
        </p:nvSpPr>
        <p:spPr>
          <a:xfrm>
            <a:off x="3390824" y="4709160"/>
            <a:ext cx="384048" cy="384048"/>
          </a:xfrm>
          <a:prstGeom prst="ellipse">
            <a:avLst/>
          </a:prstGeom>
          <a:solidFill>
            <a:schemeClr val="accent1"/>
          </a:solidFill>
          <a:ln/>
        </p:spPr>
      </p:sp>
      <p:pic>
        <p:nvPicPr>
          <p:cNvPr id="40" name="GUARDRAILS icon" descr="preencoded.png">    </p:cNvPr>
          <p:cNvPicPr>
            <a:picLocks noChangeAspect="1"/>
          </p:cNvPicPr>
          <p:nvPr/>
        </p:nvPicPr>
        <p:blipFill>
          <a:blip r:embed="rId2"/>
          <a:stretch>
            <a:fillRect/>
          </a:stretch>
        </p:blipFill>
        <p:spPr>
          <a:xfrm>
            <a:off x="3486836" y="4805172"/>
            <a:ext cx="192024" cy="192024"/>
          </a:xfrm>
          <a:prstGeom prst="rect">
            <a:avLst/>
          </a:prstGeom>
        </p:spPr>
      </p:pic>
      <p:sp>
        <p:nvSpPr>
          <p:cNvPr id="41" name="GUARDRAILS label"/>
          <p:cNvSpPr txBox="1"/>
          <p:nvPr/>
        </p:nvSpPr>
        <p:spPr>
          <a:xfrm>
            <a:off x="3893744" y="4764024"/>
            <a:ext cx="2064944"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GUARDRAILS</a:t>
            </a:r>
            <a:endParaRPr lang="en-US" sz="1100" dirty="0"/>
          </a:p>
        </p:txBody>
      </p:sp>
      <p:sp>
        <p:nvSpPr>
          <p:cNvPr id="42" name="GUARDRAILS text"/>
          <p:cNvSpPr txBox="1"/>
          <p:nvPr/>
        </p:nvSpPr>
        <p:spPr>
          <a:xfrm>
            <a:off x="3390824" y="5193792"/>
            <a:ext cx="2567864" cy="1097280"/>
          </a:xfrm>
          <a:prstGeom prst="rect">
            <a:avLst/>
          </a:prstGeom>
          <a:noFill/>
          <a:ln/>
        </p:spPr>
        <p:txBody>
          <a:bodyPr wrap="square" lIns="0" tIns="0" rIns="0" bIns="0" rtlCol="0" anchor="t"/>
          <a:lstStyle/>
          <a:p>
            <a:pPr indent="0" marL="0">
              <a:buNone/>
            </a:pPr>
            <a:r>
              <a:rPr lang="en-US" sz="1200" dirty="0">
                <a:solidFill>
                  <a:schemeClr val="tx1"/>
                </a:solidFill>
              </a:rPr>
              <a:t>Agents must use only their fetched text and flag every guess. Generated steps are never executed</a:t>
            </a:r>
            <a:endParaRPr lang="en-US" sz="1200" dirty="0"/>
          </a:p>
        </p:txBody>
      </p:sp>
      <p:sp>
        <p:nvSpPr>
          <p:cNvPr id="43" name="TRANSPARENT icon bg"/>
          <p:cNvSpPr/>
          <p:nvPr/>
        </p:nvSpPr>
        <p:spPr>
          <a:xfrm>
            <a:off x="6233008" y="4709160"/>
            <a:ext cx="384048" cy="384048"/>
          </a:xfrm>
          <a:prstGeom prst="ellipse">
            <a:avLst/>
          </a:prstGeom>
          <a:solidFill>
            <a:schemeClr val="accent1"/>
          </a:solidFill>
          <a:ln/>
        </p:spPr>
      </p:sp>
      <p:pic>
        <p:nvPicPr>
          <p:cNvPr id="44" name="TRANSPARENT icon" descr="preencoded.png">    </p:cNvPr>
          <p:cNvPicPr>
            <a:picLocks noChangeAspect="1"/>
          </p:cNvPicPr>
          <p:nvPr/>
        </p:nvPicPr>
        <p:blipFill>
          <a:blip r:embed="rId3"/>
          <a:stretch>
            <a:fillRect/>
          </a:stretch>
        </p:blipFill>
        <p:spPr>
          <a:xfrm>
            <a:off x="6329020" y="4805172"/>
            <a:ext cx="192024" cy="192024"/>
          </a:xfrm>
          <a:prstGeom prst="rect">
            <a:avLst/>
          </a:prstGeom>
        </p:spPr>
      </p:pic>
      <p:sp>
        <p:nvSpPr>
          <p:cNvPr id="45" name="TRANSPARENT label"/>
          <p:cNvSpPr txBox="1"/>
          <p:nvPr/>
        </p:nvSpPr>
        <p:spPr>
          <a:xfrm>
            <a:off x="6735928" y="4764024"/>
            <a:ext cx="2064944"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TRANSPARENT</a:t>
            </a:r>
            <a:endParaRPr lang="en-US" sz="1100" dirty="0"/>
          </a:p>
        </p:txBody>
      </p:sp>
      <p:sp>
        <p:nvSpPr>
          <p:cNvPr id="46" name="TRANSPARENT text"/>
          <p:cNvSpPr txBox="1"/>
          <p:nvPr/>
        </p:nvSpPr>
        <p:spPr>
          <a:xfrm>
            <a:off x="6233008" y="5193792"/>
            <a:ext cx="2567864" cy="1097280"/>
          </a:xfrm>
          <a:prstGeom prst="rect">
            <a:avLst/>
          </a:prstGeom>
          <a:noFill/>
          <a:ln/>
        </p:spPr>
        <p:txBody>
          <a:bodyPr wrap="square" lIns="0" tIns="0" rIns="0" bIns="0" rtlCol="0" anchor="t"/>
          <a:lstStyle/>
          <a:p>
            <a:pPr indent="0" marL="0">
              <a:buNone/>
            </a:pPr>
            <a:r>
              <a:rPr lang="en-US" sz="1200" dirty="0">
                <a:solidFill>
                  <a:schemeClr val="tx1"/>
                </a:solidFill>
              </a:rPr>
              <a:t>See what each agent saw, what it produced, and the evidence behind every finding. Scores computed in code</a:t>
            </a:r>
            <a:endParaRPr lang="en-US" sz="1200" dirty="0"/>
          </a:p>
        </p:txBody>
      </p:sp>
      <p:sp>
        <p:nvSpPr>
          <p:cNvPr id="47" name="HUMAN IN THE LOOP icon bg"/>
          <p:cNvSpPr/>
          <p:nvPr/>
        </p:nvSpPr>
        <p:spPr>
          <a:xfrm>
            <a:off x="9075191" y="4709160"/>
            <a:ext cx="384048" cy="384048"/>
          </a:xfrm>
          <a:prstGeom prst="ellipse">
            <a:avLst/>
          </a:prstGeom>
          <a:solidFill>
            <a:schemeClr val="accent1"/>
          </a:solidFill>
          <a:ln/>
        </p:spPr>
      </p:sp>
      <p:pic>
        <p:nvPicPr>
          <p:cNvPr id="48" name="HUMAN IN THE LOOP icon" descr="preencoded.png">    </p:cNvPr>
          <p:cNvPicPr>
            <a:picLocks noChangeAspect="1"/>
          </p:cNvPicPr>
          <p:nvPr/>
        </p:nvPicPr>
        <p:blipFill>
          <a:blip r:embed="rId4"/>
          <a:stretch>
            <a:fillRect/>
          </a:stretch>
        </p:blipFill>
        <p:spPr>
          <a:xfrm>
            <a:off x="9171203" y="4805172"/>
            <a:ext cx="192024" cy="192024"/>
          </a:xfrm>
          <a:prstGeom prst="rect">
            <a:avLst/>
          </a:prstGeom>
        </p:spPr>
      </p:pic>
      <p:sp>
        <p:nvSpPr>
          <p:cNvPr id="49" name="HUMAN IN THE LOOP label"/>
          <p:cNvSpPr txBox="1"/>
          <p:nvPr/>
        </p:nvSpPr>
        <p:spPr>
          <a:xfrm>
            <a:off x="9578111" y="4764024"/>
            <a:ext cx="2064944"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HUMAN IN THE LOOP</a:t>
            </a:r>
            <a:endParaRPr lang="en-US" sz="1100" dirty="0"/>
          </a:p>
        </p:txBody>
      </p:sp>
      <p:sp>
        <p:nvSpPr>
          <p:cNvPr id="50" name="HUMAN IN THE LOOP text"/>
          <p:cNvSpPr txBox="1"/>
          <p:nvPr/>
        </p:nvSpPr>
        <p:spPr>
          <a:xfrm>
            <a:off x="9075191" y="5193792"/>
            <a:ext cx="2567864" cy="1097280"/>
          </a:xfrm>
          <a:prstGeom prst="rect">
            <a:avLst/>
          </a:prstGeom>
          <a:noFill/>
          <a:ln/>
        </p:spPr>
        <p:txBody>
          <a:bodyPr wrap="square" lIns="0" tIns="0" rIns="0" bIns="0" rtlCol="0" anchor="t"/>
          <a:lstStyle/>
          <a:p>
            <a:pPr indent="0" marL="0">
              <a:buNone/>
            </a:pPr>
            <a:r>
              <a:rPr lang="en-US" sz="1200" dirty="0">
                <a:solidFill>
                  <a:schemeClr val="tx1"/>
                </a:solidFill>
              </a:rPr>
              <a:t>The report is advisory. Docs and DevEx teams review the evidence and decide what to fix</a:t>
            </a:r>
            <a:endParaRPr lang="en-US" sz="12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Product-led outbound: the free audit is the pitch</a:t>
            </a:r>
            <a:endParaRPr lang="en-US" sz="3200" dirty="0"/>
          </a:p>
        </p:txBody>
      </p:sp>
      <p:sp>
        <p:nvSpPr>
          <p:cNvPr id="3" name="Outreach card"/>
          <p:cNvSpPr/>
          <p:nvPr/>
        </p:nvSpPr>
        <p:spPr>
          <a:xfrm>
            <a:off x="548640" y="1463040"/>
            <a:ext cx="5120640" cy="3063240"/>
          </a:xfrm>
          <a:prstGeom prst="roundRect">
            <a:avLst>
              <a:gd name="adj" fmla="val 3582"/>
            </a:avLst>
          </a:prstGeom>
          <a:solidFill>
            <a:schemeClr val="tx2"/>
          </a:solidFill>
          <a:ln/>
        </p:spPr>
      </p:sp>
      <p:sp>
        <p:nvSpPr>
          <p:cNvPr id="4" name="Outreach label"/>
          <p:cNvSpPr txBox="1"/>
          <p:nvPr/>
        </p:nvSpPr>
        <p:spPr>
          <a:xfrm>
            <a:off x="914400" y="1737360"/>
            <a:ext cx="4572000" cy="274320"/>
          </a:xfrm>
          <a:prstGeom prst="rect">
            <a:avLst/>
          </a:prstGeom>
          <a:noFill/>
          <a:ln/>
        </p:spPr>
        <p:txBody>
          <a:bodyPr wrap="square" lIns="0" tIns="0" rIns="0" bIns="0" rtlCol="0" anchor="ctr"/>
          <a:lstStyle/>
          <a:p>
            <a:pPr indent="0" marL="0">
              <a:buNone/>
            </a:pPr>
            <a:r>
              <a:rPr lang="en-US" sz="1100" b="1" spc="200" kern="0" dirty="0">
                <a:solidFill>
                  <a:schemeClr val="accent4"/>
                </a:solidFill>
              </a:rPr>
              <a:t>WE DON'T SEND COLD EMAILS. WE SEND AUDITS</a:t>
            </a:r>
            <a:endParaRPr lang="en-US" sz="1100" dirty="0"/>
          </a:p>
        </p:txBody>
      </p:sp>
      <p:sp>
        <p:nvSpPr>
          <p:cNvPr id="5" name="Outreach quote"/>
          <p:cNvSpPr txBox="1"/>
          <p:nvPr/>
        </p:nvSpPr>
        <p:spPr>
          <a:xfrm>
            <a:off x="914400" y="2148840"/>
            <a:ext cx="4389120" cy="1554480"/>
          </a:xfrm>
          <a:prstGeom prst="rect">
            <a:avLst/>
          </a:prstGeom>
          <a:noFill/>
          <a:ln/>
        </p:spPr>
        <p:txBody>
          <a:bodyPr wrap="square" lIns="0" tIns="0" rIns="0" bIns="0" rtlCol="0" anchor="t"/>
          <a:lstStyle/>
          <a:p>
            <a:pPr indent="0" marL="0">
              <a:buNone/>
            </a:pPr>
            <a:r>
              <a:rPr lang="en-US" sz="1900" i="1" dirty="0">
                <a:solidFill>
                  <a:schemeClr val="bg1"/>
                </a:solidFill>
                <a:latin typeface="Cambria" pitchFamily="34" charset="0"/>
                <a:ea typeface="Cambria" pitchFamily="34" charset="-122"/>
                <a:cs typeface="Cambria" pitchFamily="34" charset="-120"/>
              </a:rPr>
              <a:t>“An AI agent tried to integrate your product. It scored 65/100 and got stuck on the auth step. Here is your free AIO report.”</a:t>
            </a:r>
            <a:endParaRPr lang="en-US" sz="1900" dirty="0"/>
          </a:p>
        </p:txBody>
      </p:sp>
      <p:sp>
        <p:nvSpPr>
          <p:cNvPr id="6" name="Outreach scope"/>
          <p:cNvSpPr txBox="1"/>
          <p:nvPr/>
        </p:nvSpPr>
        <p:spPr>
          <a:xfrm>
            <a:off x="914400" y="3703320"/>
            <a:ext cx="4389120" cy="548640"/>
          </a:xfrm>
          <a:prstGeom prst="rect">
            <a:avLst/>
          </a:prstGeom>
          <a:noFill/>
          <a:ln/>
        </p:spPr>
        <p:txBody>
          <a:bodyPr wrap="square" lIns="0" tIns="0" rIns="0" bIns="0" rtlCol="0" anchor="t"/>
          <a:lstStyle/>
          <a:p>
            <a:pPr indent="0" marL="0">
              <a:buNone/>
            </a:pPr>
            <a:r>
              <a:rPr lang="en-US" sz="1400" dirty="0">
                <a:solidFill>
                  <a:schemeClr val="accent4"/>
                </a:solidFill>
              </a:rPr>
              <a:t>Works for any software company with public docs, SMB to enterprise</a:t>
            </a:r>
            <a:endParaRPr lang="en-US" sz="1400" dirty="0"/>
          </a:p>
        </p:txBody>
      </p:sp>
      <p:sp>
        <p:nvSpPr>
          <p:cNvPr id="7" name="Tier 1 icon bg"/>
          <p:cNvSpPr/>
          <p:nvPr/>
        </p:nvSpPr>
        <p:spPr>
          <a:xfrm>
            <a:off x="6172200" y="1508760"/>
            <a:ext cx="502920" cy="502920"/>
          </a:xfrm>
          <a:prstGeom prst="ellipse">
            <a:avLst/>
          </a:prstGeom>
          <a:solidFill>
            <a:schemeClr val="accent1"/>
          </a:solidFill>
          <a:ln/>
        </p:spPr>
      </p:sp>
      <p:pic>
        <p:nvPicPr>
          <p:cNvPr id="8" name="Tier 1 icon" descr="preencoded.png">    </p:cNvPr>
          <p:cNvPicPr>
            <a:picLocks noChangeAspect="1"/>
          </p:cNvPicPr>
          <p:nvPr/>
        </p:nvPicPr>
        <p:blipFill>
          <a:blip r:embed="rId1"/>
          <a:stretch>
            <a:fillRect/>
          </a:stretch>
        </p:blipFill>
        <p:spPr>
          <a:xfrm>
            <a:off x="6297930" y="1634490"/>
            <a:ext cx="251460" cy="251460"/>
          </a:xfrm>
          <a:prstGeom prst="rect">
            <a:avLst/>
          </a:prstGeom>
        </p:spPr>
      </p:pic>
      <p:sp>
        <p:nvSpPr>
          <p:cNvPr id="9" name="Tier 1 label"/>
          <p:cNvSpPr txBox="1"/>
          <p:nvPr/>
        </p:nvSpPr>
        <p:spPr>
          <a:xfrm>
            <a:off x="6858000" y="1490472"/>
            <a:ext cx="475488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FREE  ·  AIO READINESS GRADER</a:t>
            </a:r>
            <a:endParaRPr lang="en-US" sz="1100" dirty="0"/>
          </a:p>
        </p:txBody>
      </p:sp>
      <p:sp>
        <p:nvSpPr>
          <p:cNvPr id="10" name="Tier 1 text"/>
          <p:cNvSpPr txBox="1"/>
          <p:nvPr/>
        </p:nvSpPr>
        <p:spPr>
          <a:xfrm>
            <a:off x="6858000" y="1810512"/>
            <a:ext cx="4754880" cy="548640"/>
          </a:xfrm>
          <a:prstGeom prst="rect">
            <a:avLst/>
          </a:prstGeom>
          <a:noFill/>
          <a:ln/>
        </p:spPr>
        <p:txBody>
          <a:bodyPr wrap="square" lIns="0" tIns="0" rIns="0" bIns="0" rtlCol="0" anchor="t"/>
          <a:lstStyle/>
          <a:p>
            <a:pPr indent="0" marL="0">
              <a:buNone/>
            </a:pPr>
            <a:r>
              <a:rPr lang="en-US" sz="1400" dirty="0">
                <a:solidFill>
                  <a:schemeClr val="tx1"/>
                </a:solidFill>
              </a:rPr>
              <a:t>Drop in a docs URL, see whether an agent can complete a basic task</a:t>
            </a:r>
            <a:endParaRPr lang="en-US" sz="1400" dirty="0"/>
          </a:p>
        </p:txBody>
      </p:sp>
      <p:sp>
        <p:nvSpPr>
          <p:cNvPr id="11" name="Tier 2 icon bg"/>
          <p:cNvSpPr/>
          <p:nvPr/>
        </p:nvSpPr>
        <p:spPr>
          <a:xfrm>
            <a:off x="6172200" y="2560320"/>
            <a:ext cx="502920" cy="502920"/>
          </a:xfrm>
          <a:prstGeom prst="ellipse">
            <a:avLst/>
          </a:prstGeom>
          <a:solidFill>
            <a:schemeClr val="accent1"/>
          </a:solidFill>
          <a:ln/>
        </p:spPr>
      </p:sp>
      <p:pic>
        <p:nvPicPr>
          <p:cNvPr id="12" name="Tier 2 icon" descr="preencoded.png">    </p:cNvPr>
          <p:cNvPicPr>
            <a:picLocks noChangeAspect="1"/>
          </p:cNvPicPr>
          <p:nvPr/>
        </p:nvPicPr>
        <p:blipFill>
          <a:blip r:embed="rId2"/>
          <a:stretch>
            <a:fillRect/>
          </a:stretch>
        </p:blipFill>
        <p:spPr>
          <a:xfrm>
            <a:off x="6297930" y="2686050"/>
            <a:ext cx="251460" cy="251460"/>
          </a:xfrm>
          <a:prstGeom prst="rect">
            <a:avLst/>
          </a:prstGeom>
        </p:spPr>
      </p:pic>
      <p:sp>
        <p:nvSpPr>
          <p:cNvPr id="13" name="Tier 2 label"/>
          <p:cNvSpPr txBox="1"/>
          <p:nvPr/>
        </p:nvSpPr>
        <p:spPr>
          <a:xfrm>
            <a:off x="6858000" y="2542032"/>
            <a:ext cx="475488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PAID  ·  DIAGNOSTIC REPORT</a:t>
            </a:r>
            <a:endParaRPr lang="en-US" sz="1100" dirty="0"/>
          </a:p>
        </p:txBody>
      </p:sp>
      <p:sp>
        <p:nvSpPr>
          <p:cNvPr id="14" name="Tier 2 text"/>
          <p:cNvSpPr txBox="1"/>
          <p:nvPr/>
        </p:nvSpPr>
        <p:spPr>
          <a:xfrm>
            <a:off x="6858000" y="2862072"/>
            <a:ext cx="4754880" cy="548640"/>
          </a:xfrm>
          <a:prstGeom prst="rect">
            <a:avLst/>
          </a:prstGeom>
          <a:noFill/>
          <a:ln/>
        </p:spPr>
        <p:txBody>
          <a:bodyPr wrap="square" lIns="0" tIns="0" rIns="0" bIns="0" rtlCol="0" anchor="t"/>
          <a:lstStyle/>
          <a:p>
            <a:pPr indent="0" marL="0">
              <a:buNone/>
            </a:pPr>
            <a:r>
              <a:rPr lang="en-US" sz="1400" dirty="0">
                <a:solidFill>
                  <a:schemeClr val="tx1"/>
                </a:solidFill>
              </a:rPr>
              <a:t>Where exactly the agent got confused, and how to fix each gap</a:t>
            </a:r>
            <a:endParaRPr lang="en-US" sz="1400" dirty="0"/>
          </a:p>
        </p:txBody>
      </p:sp>
      <p:sp>
        <p:nvSpPr>
          <p:cNvPr id="15" name="Tier 3 icon bg"/>
          <p:cNvSpPr/>
          <p:nvPr/>
        </p:nvSpPr>
        <p:spPr>
          <a:xfrm>
            <a:off x="6172200" y="3611880"/>
            <a:ext cx="502920" cy="502920"/>
          </a:xfrm>
          <a:prstGeom prst="ellipse">
            <a:avLst/>
          </a:prstGeom>
          <a:solidFill>
            <a:schemeClr val="accent3"/>
          </a:solidFill>
          <a:ln/>
        </p:spPr>
      </p:sp>
      <p:pic>
        <p:nvPicPr>
          <p:cNvPr id="16" name="Tier 3 icon" descr="preencoded.png">    </p:cNvPr>
          <p:cNvPicPr>
            <a:picLocks noChangeAspect="1"/>
          </p:cNvPicPr>
          <p:nvPr/>
        </p:nvPicPr>
        <p:blipFill>
          <a:blip r:embed="rId3"/>
          <a:stretch>
            <a:fillRect/>
          </a:stretch>
        </p:blipFill>
        <p:spPr>
          <a:xfrm>
            <a:off x="6297930" y="3737610"/>
            <a:ext cx="251460" cy="251460"/>
          </a:xfrm>
          <a:prstGeom prst="rect">
            <a:avLst/>
          </a:prstGeom>
        </p:spPr>
      </p:pic>
      <p:sp>
        <p:nvSpPr>
          <p:cNvPr id="17" name="Tier 3 label"/>
          <p:cNvSpPr txBox="1"/>
          <p:nvPr/>
        </p:nvSpPr>
        <p:spPr>
          <a:xfrm>
            <a:off x="6858000" y="3593592"/>
            <a:ext cx="475488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ENTERPRISE  ·  CONTINUOUS MONITORING</a:t>
            </a:r>
            <a:endParaRPr lang="en-US" sz="1100" dirty="0"/>
          </a:p>
        </p:txBody>
      </p:sp>
      <p:sp>
        <p:nvSpPr>
          <p:cNvPr id="18" name="Tier 3 text"/>
          <p:cNvSpPr txBox="1"/>
          <p:nvPr/>
        </p:nvSpPr>
        <p:spPr>
          <a:xfrm>
            <a:off x="6858000" y="3913632"/>
            <a:ext cx="4754880" cy="548640"/>
          </a:xfrm>
          <a:prstGeom prst="rect">
            <a:avLst/>
          </a:prstGeom>
          <a:noFill/>
          <a:ln/>
        </p:spPr>
        <p:txBody>
          <a:bodyPr wrap="square" lIns="0" tIns="0" rIns="0" bIns="0" rtlCol="0" anchor="t"/>
          <a:lstStyle/>
          <a:p>
            <a:pPr indent="0" marL="0">
              <a:buNone/>
            </a:pPr>
            <a:r>
              <a:rPr lang="en-US" sz="1400" dirty="0">
                <a:solidFill>
                  <a:schemeClr val="tx1"/>
                </a:solidFill>
              </a:rPr>
              <a:t>Agentic Ready runs in CI/CD on every docs change</a:t>
            </a:r>
            <a:endParaRPr lang="en-US" sz="1400" dirty="0"/>
          </a:p>
        </p:txBody>
      </p:sp>
      <p:sp>
        <p:nvSpPr>
          <p:cNvPr id="19" name="ROI card"/>
          <p:cNvSpPr/>
          <p:nvPr/>
        </p:nvSpPr>
        <p:spPr>
          <a:xfrm>
            <a:off x="548640" y="4846320"/>
            <a:ext cx="11094415" cy="1234440"/>
          </a:xfrm>
          <a:prstGeom prst="roundRect">
            <a:avLst>
              <a:gd name="adj" fmla="val 8889"/>
            </a:avLst>
          </a:prstGeom>
          <a:solidFill>
            <a:schemeClr val="bg2"/>
          </a:solidFill>
          <a:ln/>
        </p:spPr>
      </p:sp>
      <p:sp>
        <p:nvSpPr>
          <p:cNvPr id="20" name="Who pays label"/>
          <p:cNvSpPr txBox="1"/>
          <p:nvPr/>
        </p:nvSpPr>
        <p:spPr>
          <a:xfrm>
            <a:off x="914400" y="5029200"/>
            <a:ext cx="27432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WHO PAYS</a:t>
            </a:r>
            <a:endParaRPr lang="en-US" sz="1100" dirty="0"/>
          </a:p>
        </p:txBody>
      </p:sp>
      <p:sp>
        <p:nvSpPr>
          <p:cNvPr id="21" name="Who pays text"/>
          <p:cNvSpPr txBox="1"/>
          <p:nvPr/>
        </p:nvSpPr>
        <p:spPr>
          <a:xfrm>
            <a:off x="914400" y="5349240"/>
            <a:ext cx="4937760" cy="640080"/>
          </a:xfrm>
          <a:prstGeom prst="rect">
            <a:avLst/>
          </a:prstGeom>
          <a:noFill/>
          <a:ln/>
        </p:spPr>
        <p:txBody>
          <a:bodyPr wrap="square" lIns="0" tIns="0" rIns="0" bIns="0" rtlCol="0" anchor="t"/>
          <a:lstStyle/>
          <a:p>
            <a:pPr indent="0" marL="0">
              <a:buNone/>
            </a:pPr>
            <a:r>
              <a:rPr lang="en-US" sz="1400" dirty="0">
                <a:solidFill>
                  <a:schemeClr val="tx1"/>
                </a:solidFill>
              </a:rPr>
              <a:t>DevRel, docs, developer-experience and support leaders at companies that grow through implementation</a:t>
            </a:r>
            <a:endParaRPr lang="en-US" sz="1400" dirty="0"/>
          </a:p>
        </p:txBody>
      </p:sp>
      <p:sp>
        <p:nvSpPr>
          <p:cNvPr id="22" name="ROI label"/>
          <p:cNvSpPr txBox="1"/>
          <p:nvPr/>
        </p:nvSpPr>
        <p:spPr>
          <a:xfrm>
            <a:off x="6172200" y="5029200"/>
            <a:ext cx="2743200" cy="274320"/>
          </a:xfrm>
          <a:prstGeom prst="rect">
            <a:avLst/>
          </a:prstGeom>
          <a:noFill/>
          <a:ln/>
        </p:spPr>
        <p:txBody>
          <a:bodyPr wrap="square" lIns="0" tIns="0" rIns="0" bIns="0" rtlCol="0" anchor="ctr"/>
          <a:lstStyle/>
          <a:p>
            <a:pPr indent="0" marL="0">
              <a:buNone/>
            </a:pPr>
            <a:r>
              <a:rPr lang="en-US" sz="1100" b="1" spc="200" kern="0" dirty="0">
                <a:solidFill>
                  <a:schemeClr val="accent3"/>
                </a:solidFill>
              </a:rPr>
              <a:t>THE ROI</a:t>
            </a:r>
            <a:endParaRPr lang="en-US" sz="1100" dirty="0"/>
          </a:p>
        </p:txBody>
      </p:sp>
      <p:sp>
        <p:nvSpPr>
          <p:cNvPr id="23" name="ROI text"/>
          <p:cNvSpPr txBox="1"/>
          <p:nvPr/>
        </p:nvSpPr>
        <p:spPr>
          <a:xfrm>
            <a:off x="6172200" y="5349240"/>
            <a:ext cx="5120640" cy="640080"/>
          </a:xfrm>
          <a:prstGeom prst="rect">
            <a:avLst/>
          </a:prstGeom>
          <a:noFill/>
          <a:ln/>
        </p:spPr>
        <p:txBody>
          <a:bodyPr wrap="square" lIns="0" tIns="0" rIns="0" bIns="0" rtlCol="0" anchor="t"/>
          <a:lstStyle/>
          <a:p>
            <a:pPr indent="0" marL="0">
              <a:buNone/>
            </a:pPr>
            <a:r>
              <a:rPr lang="en-US" sz="1400" dirty="0">
                <a:solidFill>
                  <a:schemeClr val="tx1"/>
                </a:solidFill>
              </a:rPr>
              <a:t>Lower support costs from gaps fixed before customers hit them, and fewer drop-offs from integration friction</a:t>
            </a:r>
            <a:endParaRPr lang="en-US" sz="14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5852160" cy="777240"/>
          </a:xfrm>
          <a:prstGeom prst="rect">
            <a:avLst/>
          </a:prstGeom>
          <a:noFill/>
          <a:ln/>
        </p:spPr>
        <p:txBody>
          <a:bodyPr wrap="square" lIns="0" tIns="0" rIns="0" bIns="0" rtlCol="0" anchor="t"/>
          <a:lstStyle/>
          <a:p>
            <a:pPr algn="l" indent="0" marL="0">
              <a:buNone/>
            </a:pPr>
            <a:r>
              <a:rPr lang="en-US" sz="4000" b="1" dirty="0">
                <a:solidFill>
                  <a:schemeClr val="bg1"/>
                </a:solidFill>
              </a:rPr>
              <a:t>What we build next</a:t>
            </a:r>
            <a:endParaRPr lang="en-US" sz="4000" dirty="0"/>
          </a:p>
        </p:txBody>
      </p:sp>
      <p:sp>
        <p:nvSpPr>
          <p:cNvPr id="3" name="Next steps intro"/>
          <p:cNvSpPr txBox="1"/>
          <p:nvPr/>
        </p:nvSpPr>
        <p:spPr>
          <a:xfrm>
            <a:off x="548640" y="1280160"/>
            <a:ext cx="7772400" cy="365760"/>
          </a:xfrm>
          <a:prstGeom prst="rect">
            <a:avLst/>
          </a:prstGeom>
          <a:noFill/>
          <a:ln/>
        </p:spPr>
        <p:txBody>
          <a:bodyPr wrap="square" lIns="0" tIns="0" rIns="0" bIns="0" rtlCol="0" anchor="t"/>
          <a:lstStyle/>
          <a:p>
            <a:pPr indent="0" marL="0">
              <a:buNone/>
            </a:pPr>
            <a:r>
              <a:rPr lang="en-US" sz="1600" dirty="0">
                <a:solidFill>
                  <a:schemeClr val="accent4"/>
                </a:solidFill>
              </a:rPr>
              <a:t>Six features that make the simulation more realistic and close the loop from finding to fix</a:t>
            </a:r>
            <a:endParaRPr lang="en-US" sz="1600" dirty="0"/>
          </a:p>
        </p:txBody>
      </p:sp>
      <p:sp>
        <p:nvSpPr>
          <p:cNvPr id="4" name="SHARPER SIMULATION label"/>
          <p:cNvSpPr txBox="1"/>
          <p:nvPr/>
        </p:nvSpPr>
        <p:spPr>
          <a:xfrm>
            <a:off x="548640" y="1965960"/>
            <a:ext cx="4572000" cy="274320"/>
          </a:xfrm>
          <a:prstGeom prst="rect">
            <a:avLst/>
          </a:prstGeom>
          <a:noFill/>
          <a:ln/>
        </p:spPr>
        <p:txBody>
          <a:bodyPr wrap="square" lIns="0" tIns="0" rIns="0" bIns="0" rtlCol="0" anchor="ctr"/>
          <a:lstStyle/>
          <a:p>
            <a:pPr indent="0" marL="0">
              <a:buNone/>
            </a:pPr>
            <a:r>
              <a:rPr lang="en-US" sz="1100" b="1" spc="200" kern="0" dirty="0">
                <a:solidFill>
                  <a:schemeClr val="accent4"/>
                </a:solidFill>
              </a:rPr>
              <a:t>SHARPER SIMULATION</a:t>
            </a:r>
            <a:endParaRPr lang="en-US" sz="1100" dirty="0"/>
          </a:p>
        </p:txBody>
      </p:sp>
      <p:sp>
        <p:nvSpPr>
          <p:cNvPr id="5" name="Browser-rendered agent card"/>
          <p:cNvSpPr/>
          <p:nvPr/>
        </p:nvSpPr>
        <p:spPr>
          <a:xfrm>
            <a:off x="548640" y="2331720"/>
            <a:ext cx="3515258" cy="1508760"/>
          </a:xfrm>
          <a:prstGeom prst="roundRect">
            <a:avLst>
              <a:gd name="adj" fmla="val 7273"/>
            </a:avLst>
          </a:prstGeom>
          <a:solidFill>
            <a:schemeClr val="accent1"/>
          </a:solidFill>
          <a:ln/>
        </p:spPr>
      </p:sp>
      <p:sp>
        <p:nvSpPr>
          <p:cNvPr id="6" name="Browser-rendered agent icon bg"/>
          <p:cNvSpPr/>
          <p:nvPr/>
        </p:nvSpPr>
        <p:spPr>
          <a:xfrm>
            <a:off x="822960" y="2606040"/>
            <a:ext cx="457200" cy="457200"/>
          </a:xfrm>
          <a:prstGeom prst="ellipse">
            <a:avLst/>
          </a:prstGeom>
          <a:solidFill>
            <a:schemeClr val="tx2"/>
          </a:solidFill>
          <a:ln/>
        </p:spPr>
      </p:sp>
      <p:pic>
        <p:nvPicPr>
          <p:cNvPr id="7" name="Browser-rendered agent icon" descr="preencoded.png">    </p:cNvPr>
          <p:cNvPicPr>
            <a:picLocks noChangeAspect="1"/>
          </p:cNvPicPr>
          <p:nvPr/>
        </p:nvPicPr>
        <p:blipFill>
          <a:blip r:embed="rId1"/>
          <a:stretch>
            <a:fillRect/>
          </a:stretch>
        </p:blipFill>
        <p:spPr>
          <a:xfrm>
            <a:off x="937260" y="2720340"/>
            <a:ext cx="228600" cy="228600"/>
          </a:xfrm>
          <a:prstGeom prst="rect">
            <a:avLst/>
          </a:prstGeom>
        </p:spPr>
      </p:pic>
      <p:sp>
        <p:nvSpPr>
          <p:cNvPr id="8" name="Browser-rendered agent"/>
          <p:cNvSpPr txBox="1"/>
          <p:nvPr/>
        </p:nvSpPr>
        <p:spPr>
          <a:xfrm>
            <a:off x="1463040" y="2560320"/>
            <a:ext cx="2326538" cy="1097280"/>
          </a:xfrm>
          <a:prstGeom prst="rect">
            <a:avLst/>
          </a:prstGeom>
          <a:noFill/>
          <a:ln/>
        </p:spPr>
        <p:txBody>
          <a:bodyPr wrap="square" lIns="0" tIns="0" rIns="0" bIns="0" rtlCol="0" anchor="t"/>
          <a:lstStyle/>
          <a:p>
            <a:pPr indent="0" marL="0">
              <a:buNone/>
            </a:pPr>
            <a:r>
              <a:rPr lang="en-US" sz="1600" b="1" dirty="0">
                <a:solidFill>
                  <a:schemeClr val="bg1"/>
                </a:solidFill>
              </a:rPr>
              <a:t>Browser-rendered agent</a:t>
            </a:r>
            <a:endParaRPr lang="en-US" sz="1600" dirty="0"/>
          </a:p>
          <a:p>
            <a:pPr indent="0" marL="0">
              <a:buNone/>
            </a:pPr>
            <a:r>
              <a:rPr lang="en-US" sz="1300" dirty="0">
                <a:solidFill>
                  <a:schemeClr val="bg1"/>
                </a:solidFill>
              </a:rPr>
              <a:t>Reads the page after JavaScript runs, like browser-using agents</a:t>
            </a:r>
            <a:endParaRPr lang="en-US" sz="1600" dirty="0"/>
          </a:p>
        </p:txBody>
      </p:sp>
      <p:sp>
        <p:nvSpPr>
          <p:cNvPr id="9" name="Retrieval agent card"/>
          <p:cNvSpPr/>
          <p:nvPr/>
        </p:nvSpPr>
        <p:spPr>
          <a:xfrm>
            <a:off x="4338218" y="2331720"/>
            <a:ext cx="3515258" cy="1508760"/>
          </a:xfrm>
          <a:prstGeom prst="roundRect">
            <a:avLst>
              <a:gd name="adj" fmla="val 7273"/>
            </a:avLst>
          </a:prstGeom>
          <a:solidFill>
            <a:schemeClr val="accent1"/>
          </a:solidFill>
          <a:ln/>
        </p:spPr>
      </p:sp>
      <p:sp>
        <p:nvSpPr>
          <p:cNvPr id="10" name="Retrieval agent icon bg"/>
          <p:cNvSpPr/>
          <p:nvPr/>
        </p:nvSpPr>
        <p:spPr>
          <a:xfrm>
            <a:off x="4612538" y="2606040"/>
            <a:ext cx="457200" cy="457200"/>
          </a:xfrm>
          <a:prstGeom prst="ellipse">
            <a:avLst/>
          </a:prstGeom>
          <a:solidFill>
            <a:schemeClr val="tx2"/>
          </a:solidFill>
          <a:ln/>
        </p:spPr>
      </p:sp>
      <p:pic>
        <p:nvPicPr>
          <p:cNvPr id="11" name="Retrieval agent icon" descr="preencoded.png">    </p:cNvPr>
          <p:cNvPicPr>
            <a:picLocks noChangeAspect="1"/>
          </p:cNvPicPr>
          <p:nvPr/>
        </p:nvPicPr>
        <p:blipFill>
          <a:blip r:embed="rId2"/>
          <a:stretch>
            <a:fillRect/>
          </a:stretch>
        </p:blipFill>
        <p:spPr>
          <a:xfrm>
            <a:off x="4726838" y="2720340"/>
            <a:ext cx="228600" cy="228600"/>
          </a:xfrm>
          <a:prstGeom prst="rect">
            <a:avLst/>
          </a:prstGeom>
        </p:spPr>
      </p:pic>
      <p:sp>
        <p:nvSpPr>
          <p:cNvPr id="12" name="Retrieval agent"/>
          <p:cNvSpPr txBox="1"/>
          <p:nvPr/>
        </p:nvSpPr>
        <p:spPr>
          <a:xfrm>
            <a:off x="5252618" y="2560320"/>
            <a:ext cx="2326538" cy="1097280"/>
          </a:xfrm>
          <a:prstGeom prst="rect">
            <a:avLst/>
          </a:prstGeom>
          <a:noFill/>
          <a:ln/>
        </p:spPr>
        <p:txBody>
          <a:bodyPr wrap="square" lIns="0" tIns="0" rIns="0" bIns="0" rtlCol="0" anchor="t"/>
          <a:lstStyle/>
          <a:p>
            <a:pPr indent="0" marL="0">
              <a:buNone/>
            </a:pPr>
            <a:r>
              <a:rPr lang="en-US" sz="1600" b="1" dirty="0">
                <a:solidFill>
                  <a:schemeClr val="bg1"/>
                </a:solidFill>
              </a:rPr>
              <a:t>Retrieval agent</a:t>
            </a:r>
            <a:endParaRPr lang="en-US" sz="1600" dirty="0"/>
          </a:p>
          <a:p>
            <a:pPr indent="0" marL="0">
              <a:buNone/>
            </a:pPr>
            <a:r>
              <a:rPr lang="en-US" sz="1300" dirty="0">
                <a:solidFill>
                  <a:schemeClr val="bg1"/>
                </a:solidFill>
              </a:rPr>
              <a:t>Sees only the chunks that match its query, like IDE doc indexing</a:t>
            </a:r>
            <a:endParaRPr lang="en-US" sz="1600" dirty="0"/>
          </a:p>
        </p:txBody>
      </p:sp>
      <p:sp>
        <p:nvSpPr>
          <p:cNvPr id="13" name="Multi-model panel card"/>
          <p:cNvSpPr/>
          <p:nvPr/>
        </p:nvSpPr>
        <p:spPr>
          <a:xfrm>
            <a:off x="8127797" y="2331720"/>
            <a:ext cx="3515258" cy="1508760"/>
          </a:xfrm>
          <a:prstGeom prst="roundRect">
            <a:avLst>
              <a:gd name="adj" fmla="val 7273"/>
            </a:avLst>
          </a:prstGeom>
          <a:solidFill>
            <a:schemeClr val="accent1"/>
          </a:solidFill>
          <a:ln/>
        </p:spPr>
      </p:sp>
      <p:sp>
        <p:nvSpPr>
          <p:cNvPr id="14" name="Multi-model panel icon bg"/>
          <p:cNvSpPr/>
          <p:nvPr/>
        </p:nvSpPr>
        <p:spPr>
          <a:xfrm>
            <a:off x="8402117" y="2606040"/>
            <a:ext cx="457200" cy="457200"/>
          </a:xfrm>
          <a:prstGeom prst="ellipse">
            <a:avLst/>
          </a:prstGeom>
          <a:solidFill>
            <a:schemeClr val="tx2"/>
          </a:solidFill>
          <a:ln/>
        </p:spPr>
      </p:sp>
      <p:pic>
        <p:nvPicPr>
          <p:cNvPr id="15" name="Multi-model panel icon" descr="preencoded.png">    </p:cNvPr>
          <p:cNvPicPr>
            <a:picLocks noChangeAspect="1"/>
          </p:cNvPicPr>
          <p:nvPr/>
        </p:nvPicPr>
        <p:blipFill>
          <a:blip r:embed="rId3"/>
          <a:stretch>
            <a:fillRect/>
          </a:stretch>
        </p:blipFill>
        <p:spPr>
          <a:xfrm>
            <a:off x="8516417" y="2720340"/>
            <a:ext cx="228600" cy="228600"/>
          </a:xfrm>
          <a:prstGeom prst="rect">
            <a:avLst/>
          </a:prstGeom>
        </p:spPr>
      </p:pic>
      <p:sp>
        <p:nvSpPr>
          <p:cNvPr id="16" name="Multi-model panel"/>
          <p:cNvSpPr txBox="1"/>
          <p:nvPr/>
        </p:nvSpPr>
        <p:spPr>
          <a:xfrm>
            <a:off x="9042197" y="2560320"/>
            <a:ext cx="2326538" cy="1097280"/>
          </a:xfrm>
          <a:prstGeom prst="rect">
            <a:avLst/>
          </a:prstGeom>
          <a:noFill/>
          <a:ln/>
        </p:spPr>
        <p:txBody>
          <a:bodyPr wrap="square" lIns="0" tIns="0" rIns="0" bIns="0" rtlCol="0" anchor="t"/>
          <a:lstStyle/>
          <a:p>
            <a:pPr indent="0" marL="0">
              <a:buNone/>
            </a:pPr>
            <a:r>
              <a:rPr lang="en-US" sz="1600" b="1" dirty="0">
                <a:solidFill>
                  <a:schemeClr val="bg1"/>
                </a:solidFill>
              </a:rPr>
              <a:t>Multi-model panel</a:t>
            </a:r>
            <a:endParaRPr lang="en-US" sz="1600" dirty="0"/>
          </a:p>
          <a:p>
            <a:pPr indent="0" marL="0">
              <a:buNone/>
            </a:pPr>
            <a:r>
              <a:rPr lang="en-US" sz="1300" dirty="0">
                <a:solidFill>
                  <a:schemeClr val="bg1"/>
                </a:solidFill>
              </a:rPr>
              <a:t>Runs several assistants and models, compares them and cuts score variance</a:t>
            </a:r>
            <a:endParaRPr lang="en-US" sz="1600" dirty="0"/>
          </a:p>
        </p:txBody>
      </p:sp>
      <p:sp>
        <p:nvSpPr>
          <p:cNvPr id="17" name="CLOSING THE LOOP label"/>
          <p:cNvSpPr txBox="1"/>
          <p:nvPr/>
        </p:nvSpPr>
        <p:spPr>
          <a:xfrm>
            <a:off x="548640" y="4114800"/>
            <a:ext cx="4572000" cy="274320"/>
          </a:xfrm>
          <a:prstGeom prst="rect">
            <a:avLst/>
          </a:prstGeom>
          <a:noFill/>
          <a:ln/>
        </p:spPr>
        <p:txBody>
          <a:bodyPr wrap="square" lIns="0" tIns="0" rIns="0" bIns="0" rtlCol="0" anchor="ctr"/>
          <a:lstStyle/>
          <a:p>
            <a:pPr indent="0" marL="0">
              <a:buNone/>
            </a:pPr>
            <a:r>
              <a:rPr lang="en-US" sz="1100" b="1" spc="200" kern="0" dirty="0">
                <a:solidFill>
                  <a:schemeClr val="accent4"/>
                </a:solidFill>
              </a:rPr>
              <a:t>CLOSING THE LOOP</a:t>
            </a:r>
            <a:endParaRPr lang="en-US" sz="1100" dirty="0"/>
          </a:p>
        </p:txBody>
      </p:sp>
      <p:sp>
        <p:nvSpPr>
          <p:cNvPr id="18" name="Sandboxed execution card"/>
          <p:cNvSpPr/>
          <p:nvPr/>
        </p:nvSpPr>
        <p:spPr>
          <a:xfrm>
            <a:off x="548640" y="4480560"/>
            <a:ext cx="3515258" cy="1508760"/>
          </a:xfrm>
          <a:prstGeom prst="roundRect">
            <a:avLst>
              <a:gd name="adj" fmla="val 7273"/>
            </a:avLst>
          </a:prstGeom>
          <a:solidFill>
            <a:schemeClr val="accent1"/>
          </a:solidFill>
          <a:ln/>
        </p:spPr>
      </p:sp>
      <p:sp>
        <p:nvSpPr>
          <p:cNvPr id="19" name="Sandboxed execution icon bg"/>
          <p:cNvSpPr/>
          <p:nvPr/>
        </p:nvSpPr>
        <p:spPr>
          <a:xfrm>
            <a:off x="822960" y="4754880"/>
            <a:ext cx="457200" cy="457200"/>
          </a:xfrm>
          <a:prstGeom prst="ellipse">
            <a:avLst/>
          </a:prstGeom>
          <a:solidFill>
            <a:schemeClr val="accent3"/>
          </a:solidFill>
          <a:ln/>
        </p:spPr>
      </p:sp>
      <p:pic>
        <p:nvPicPr>
          <p:cNvPr id="20" name="Sandboxed execution icon" descr="preencoded.png">    </p:cNvPr>
          <p:cNvPicPr>
            <a:picLocks noChangeAspect="1"/>
          </p:cNvPicPr>
          <p:nvPr/>
        </p:nvPicPr>
        <p:blipFill>
          <a:blip r:embed="rId4"/>
          <a:stretch>
            <a:fillRect/>
          </a:stretch>
        </p:blipFill>
        <p:spPr>
          <a:xfrm>
            <a:off x="937260" y="4869180"/>
            <a:ext cx="228600" cy="228600"/>
          </a:xfrm>
          <a:prstGeom prst="rect">
            <a:avLst/>
          </a:prstGeom>
        </p:spPr>
      </p:pic>
      <p:sp>
        <p:nvSpPr>
          <p:cNvPr id="21" name="Sandboxed execution"/>
          <p:cNvSpPr txBox="1"/>
          <p:nvPr/>
        </p:nvSpPr>
        <p:spPr>
          <a:xfrm>
            <a:off x="1463040" y="4709160"/>
            <a:ext cx="2326538" cy="1097280"/>
          </a:xfrm>
          <a:prstGeom prst="rect">
            <a:avLst/>
          </a:prstGeom>
          <a:noFill/>
          <a:ln/>
        </p:spPr>
        <p:txBody>
          <a:bodyPr wrap="square" lIns="0" tIns="0" rIns="0" bIns="0" rtlCol="0" anchor="t"/>
          <a:lstStyle/>
          <a:p>
            <a:pPr indent="0" marL="0">
              <a:buNone/>
            </a:pPr>
            <a:r>
              <a:rPr lang="en-US" sz="1600" b="1" dirty="0">
                <a:solidFill>
                  <a:schemeClr val="bg1"/>
                </a:solidFill>
              </a:rPr>
              <a:t>Sandboxed execution</a:t>
            </a:r>
            <a:endParaRPr lang="en-US" sz="1600" dirty="0"/>
          </a:p>
          <a:p>
            <a:pPr indent="0" marL="0">
              <a:buNone/>
            </a:pPr>
            <a:r>
              <a:rPr lang="en-US" sz="1300" dirty="0">
                <a:solidFill>
                  <a:schemeClr val="bg1"/>
                </a:solidFill>
              </a:rPr>
              <a:t>Runs the agent's steps in a container to prove they actually work</a:t>
            </a:r>
            <a:endParaRPr lang="en-US" sz="1600" dirty="0"/>
          </a:p>
        </p:txBody>
      </p:sp>
      <p:sp>
        <p:nvSpPr>
          <p:cNvPr id="22" name="Auto-fix pull requests card"/>
          <p:cNvSpPr/>
          <p:nvPr/>
        </p:nvSpPr>
        <p:spPr>
          <a:xfrm>
            <a:off x="4338218" y="4480560"/>
            <a:ext cx="3515258" cy="1508760"/>
          </a:xfrm>
          <a:prstGeom prst="roundRect">
            <a:avLst>
              <a:gd name="adj" fmla="val 7273"/>
            </a:avLst>
          </a:prstGeom>
          <a:solidFill>
            <a:schemeClr val="accent1"/>
          </a:solidFill>
          <a:ln/>
        </p:spPr>
      </p:sp>
      <p:sp>
        <p:nvSpPr>
          <p:cNvPr id="23" name="Auto-fix pull requests icon bg"/>
          <p:cNvSpPr/>
          <p:nvPr/>
        </p:nvSpPr>
        <p:spPr>
          <a:xfrm>
            <a:off x="4612538" y="4754880"/>
            <a:ext cx="457200" cy="457200"/>
          </a:xfrm>
          <a:prstGeom prst="ellipse">
            <a:avLst/>
          </a:prstGeom>
          <a:solidFill>
            <a:schemeClr val="accent3"/>
          </a:solidFill>
          <a:ln/>
        </p:spPr>
      </p:sp>
      <p:pic>
        <p:nvPicPr>
          <p:cNvPr id="24" name="Auto-fix pull requests icon" descr="preencoded.png">    </p:cNvPr>
          <p:cNvPicPr>
            <a:picLocks noChangeAspect="1"/>
          </p:cNvPicPr>
          <p:nvPr/>
        </p:nvPicPr>
        <p:blipFill>
          <a:blip r:embed="rId5"/>
          <a:stretch>
            <a:fillRect/>
          </a:stretch>
        </p:blipFill>
        <p:spPr>
          <a:xfrm>
            <a:off x="4726838" y="4869180"/>
            <a:ext cx="228600" cy="228600"/>
          </a:xfrm>
          <a:prstGeom prst="rect">
            <a:avLst/>
          </a:prstGeom>
        </p:spPr>
      </p:pic>
      <p:sp>
        <p:nvSpPr>
          <p:cNvPr id="25" name="Auto-fix pull requests"/>
          <p:cNvSpPr txBox="1"/>
          <p:nvPr/>
        </p:nvSpPr>
        <p:spPr>
          <a:xfrm>
            <a:off x="5252618" y="4709160"/>
            <a:ext cx="2326538" cy="1097280"/>
          </a:xfrm>
          <a:prstGeom prst="rect">
            <a:avLst/>
          </a:prstGeom>
          <a:noFill/>
          <a:ln/>
        </p:spPr>
        <p:txBody>
          <a:bodyPr wrap="square" lIns="0" tIns="0" rIns="0" bIns="0" rtlCol="0" anchor="t"/>
          <a:lstStyle/>
          <a:p>
            <a:pPr indent="0" marL="0">
              <a:buNone/>
            </a:pPr>
            <a:r>
              <a:rPr lang="en-US" sz="1600" b="1" dirty="0">
                <a:solidFill>
                  <a:schemeClr val="bg1"/>
                </a:solidFill>
              </a:rPr>
              <a:t>Auto-fix pull requests</a:t>
            </a:r>
            <a:endParaRPr lang="en-US" sz="1600" dirty="0"/>
          </a:p>
          <a:p>
            <a:pPr indent="0" marL="0">
              <a:buNone/>
            </a:pPr>
            <a:r>
              <a:rPr lang="en-US" sz="1300" dirty="0">
                <a:solidFill>
                  <a:schemeClr val="bg1"/>
                </a:solidFill>
              </a:rPr>
              <a:t>Turns each finding into a ready-to-merge docs change</a:t>
            </a:r>
            <a:endParaRPr lang="en-US" sz="1600" dirty="0"/>
          </a:p>
        </p:txBody>
      </p:sp>
      <p:sp>
        <p:nvSpPr>
          <p:cNvPr id="26" name="CI checks and monitoring card"/>
          <p:cNvSpPr/>
          <p:nvPr/>
        </p:nvSpPr>
        <p:spPr>
          <a:xfrm>
            <a:off x="8127797" y="4480560"/>
            <a:ext cx="3515258" cy="1508760"/>
          </a:xfrm>
          <a:prstGeom prst="roundRect">
            <a:avLst>
              <a:gd name="adj" fmla="val 7273"/>
            </a:avLst>
          </a:prstGeom>
          <a:solidFill>
            <a:schemeClr val="accent1"/>
          </a:solidFill>
          <a:ln/>
        </p:spPr>
      </p:sp>
      <p:sp>
        <p:nvSpPr>
          <p:cNvPr id="27" name="CI checks and monitoring icon bg"/>
          <p:cNvSpPr/>
          <p:nvPr/>
        </p:nvSpPr>
        <p:spPr>
          <a:xfrm>
            <a:off x="8402117" y="4754880"/>
            <a:ext cx="457200" cy="457200"/>
          </a:xfrm>
          <a:prstGeom prst="ellipse">
            <a:avLst/>
          </a:prstGeom>
          <a:solidFill>
            <a:schemeClr val="accent3"/>
          </a:solidFill>
          <a:ln/>
        </p:spPr>
      </p:sp>
      <p:pic>
        <p:nvPicPr>
          <p:cNvPr id="28" name="CI checks and monitoring icon" descr="preencoded.png">    </p:cNvPr>
          <p:cNvPicPr>
            <a:picLocks noChangeAspect="1"/>
          </p:cNvPicPr>
          <p:nvPr/>
        </p:nvPicPr>
        <p:blipFill>
          <a:blip r:embed="rId6"/>
          <a:stretch>
            <a:fillRect/>
          </a:stretch>
        </p:blipFill>
        <p:spPr>
          <a:xfrm>
            <a:off x="8516417" y="4869180"/>
            <a:ext cx="228600" cy="228600"/>
          </a:xfrm>
          <a:prstGeom prst="rect">
            <a:avLst/>
          </a:prstGeom>
        </p:spPr>
      </p:pic>
      <p:sp>
        <p:nvSpPr>
          <p:cNvPr id="29" name="CI checks and monitoring"/>
          <p:cNvSpPr txBox="1"/>
          <p:nvPr/>
        </p:nvSpPr>
        <p:spPr>
          <a:xfrm>
            <a:off x="9042197" y="4709160"/>
            <a:ext cx="2326538" cy="1097280"/>
          </a:xfrm>
          <a:prstGeom prst="rect">
            <a:avLst/>
          </a:prstGeom>
          <a:noFill/>
          <a:ln/>
        </p:spPr>
        <p:txBody>
          <a:bodyPr wrap="square" lIns="0" tIns="0" rIns="0" bIns="0" rtlCol="0" anchor="t"/>
          <a:lstStyle/>
          <a:p>
            <a:pPr indent="0" marL="0">
              <a:buNone/>
            </a:pPr>
            <a:r>
              <a:rPr lang="en-US" sz="1600" b="1" dirty="0">
                <a:solidFill>
                  <a:schemeClr val="bg1"/>
                </a:solidFill>
              </a:rPr>
              <a:t>CI checks and monitoring</a:t>
            </a:r>
            <a:endParaRPr lang="en-US" sz="1600" dirty="0"/>
          </a:p>
          <a:p>
            <a:pPr indent="0" marL="0">
              <a:buNone/>
            </a:pPr>
            <a:r>
              <a:rPr lang="en-US" sz="1300" dirty="0">
                <a:solidFill>
                  <a:schemeClr val="bg1"/>
                </a:solidFill>
              </a:rPr>
              <a:t>Scores every docs update and the whole site, and alerts when it drops</a:t>
            </a:r>
            <a:endParaRPr lang="en-US" sz="1600" dirty="0"/>
          </a:p>
        </p:txBody>
      </p:sp>
      <p:sp>
        <p:nvSpPr>
          <p:cNvPr id="30" name="Links"/>
          <p:cNvSpPr txBox="1"/>
          <p:nvPr/>
        </p:nvSpPr>
        <p:spPr>
          <a:xfrm>
            <a:off x="548640" y="6263640"/>
            <a:ext cx="11094415" cy="320040"/>
          </a:xfrm>
          <a:prstGeom prst="rect">
            <a:avLst/>
          </a:prstGeom>
          <a:noFill/>
          <a:ln/>
        </p:spPr>
        <p:txBody>
          <a:bodyPr wrap="square" lIns="0" tIns="0" rIns="0" bIns="0" rtlCol="0" anchor="t"/>
          <a:lstStyle/>
          <a:p>
            <a:pPr indent="0" marL="0">
              <a:buNone/>
            </a:pPr>
            <a:r>
              <a:rPr lang="en-US" sz="1200" b="1" dirty="0">
                <a:solidFill>
                  <a:schemeClr val="accent4"/>
                </a:solidFill>
              </a:rPr>
              <a:t>Try it  </a:t>
            </a:r>
            <a:pPr indent="0" marL="0">
              <a:buNone/>
            </a:pPr>
            <a:r>
              <a:rPr lang="en-US" sz="1200" dirty="0">
                <a:solidFill>
                  <a:schemeClr val="accent4"/>
                </a:solidFill>
              </a:rPr>
              <a:t>agentic-ready-gqulkb5ysrtmnhtve284fz.streamlit.app   ·   github.com/godvy/agentic-ready</a:t>
            </a:r>
            <a:endParaRPr lang="en-US" sz="1200" dirty="0"/>
          </a:p>
        </p:txBody>
      </p:sp>
    </p:spTree>
  </p:cSld>
  <p:clrMapOvr>
    <a:masterClrMapping/>
  </p:clrMapOvr>
</p:sld>
</file>

<file path=ppt/theme/theme1.xml><?xml version="1.0" encoding="utf-8"?>
<a:theme xmlns:a="http://schemas.openxmlformats.org/drawingml/2006/main" name="Agentic Ready">
  <a:themeElements>
    <a:clrScheme name="Agentic Ready">
      <a:dk1>
        <a:srgbClr val="1C1B19"/>
      </a:dk1>
      <a:lt1>
        <a:srgbClr val="FFFFFF"/>
      </a:lt1>
      <a:dk2>
        <a:srgbClr val="16263A"/>
      </a:dk2>
      <a:lt2>
        <a:srgbClr val="F2F4F7"/>
      </a:lt2>
      <a:accent1>
        <a:srgbClr val="2B4A6F"/>
      </a:accent1>
      <a:accent2>
        <a:srgbClr val="C2553B"/>
      </a:accent2>
      <a:accent3>
        <a:srgbClr val="2F6B4F"/>
      </a:accent3>
      <a:accent4>
        <a:srgbClr val="B8C4D4"/>
      </a:accent4>
      <a:accent5>
        <a:srgbClr val="6B7280"/>
      </a:accent5>
      <a:accent6>
        <a:srgbClr val="DCE2EA"/>
      </a:accent6>
      <a:hlink>
        <a:srgbClr val="2B4A6F"/>
      </a:hlink>
      <a:folHlink>
        <a:srgbClr val="6B7280"/>
      </a:folHlink>
    </a:clrScheme>
    <a:fontScheme name="Agentic Read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Ready</dc:title>
  <dc:subject>PptxGenJS Presentation</dc:subject>
  <dc:creator>PptxGenJS</dc:creator>
  <cp:lastModifiedBy>PptxGenJS</cp:lastModifiedBy>
  <cp:revision>1</cp:revision>
  <dcterms:created xsi:type="dcterms:W3CDTF">2026-10-24T05:41:16Z</dcterms:created>
  <dcterms:modified xsi:type="dcterms:W3CDTF">2026-10-24T05:41:16Z</dcterms:modified>
</cp:coreProperties>
</file>